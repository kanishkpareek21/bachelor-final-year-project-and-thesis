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1"/>
  </p:notesMasterIdLst>
  <p:handoutMasterIdLst>
    <p:handoutMasterId r:id="rId22"/>
  </p:handoutMasterIdLst>
  <p:sldIdLst>
    <p:sldId id="292" r:id="rId2"/>
    <p:sldId id="316" r:id="rId3"/>
    <p:sldId id="315" r:id="rId4"/>
    <p:sldId id="318" r:id="rId5"/>
    <p:sldId id="326" r:id="rId6"/>
    <p:sldId id="339" r:id="rId7"/>
    <p:sldId id="340" r:id="rId8"/>
    <p:sldId id="341" r:id="rId9"/>
    <p:sldId id="344" r:id="rId10"/>
    <p:sldId id="345" r:id="rId11"/>
    <p:sldId id="346" r:id="rId12"/>
    <p:sldId id="351" r:id="rId13"/>
    <p:sldId id="349" r:id="rId14"/>
    <p:sldId id="338" r:id="rId15"/>
    <p:sldId id="323" r:id="rId16"/>
    <p:sldId id="343" r:id="rId17"/>
    <p:sldId id="327" r:id="rId18"/>
    <p:sldId id="321" r:id="rId19"/>
    <p:sldId id="325" r:id="rId20"/>
  </p:sldIdLst>
  <p:sldSz cx="10080625" cy="7559675"/>
  <p:notesSz cx="7772400" cy="10025063"/>
  <p:defaultTextStyle>
    <a:defPPr>
      <a:defRPr lang="en-GB"/>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42" autoAdjust="0"/>
    <p:restoredTop sz="90929"/>
  </p:normalViewPr>
  <p:slideViewPr>
    <p:cSldViewPr>
      <p:cViewPr varScale="1">
        <p:scale>
          <a:sx n="58" d="100"/>
          <a:sy n="58" d="100"/>
        </p:scale>
        <p:origin x="692" y="80"/>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16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402138" y="0"/>
            <a:ext cx="3368675" cy="501650"/>
          </a:xfrm>
          <a:prstGeom prst="rect">
            <a:avLst/>
          </a:prstGeom>
        </p:spPr>
        <p:txBody>
          <a:bodyPr vert="horz" lIns="91440" tIns="45720" rIns="91440" bIns="45720" rtlCol="0"/>
          <a:lstStyle>
            <a:lvl1pPr algn="r">
              <a:defRPr sz="1200"/>
            </a:lvl1pPr>
          </a:lstStyle>
          <a:p>
            <a:fld id="{9805B0B3-166E-4B00-A93A-02396BF50277}" type="datetimeFigureOut">
              <a:rPr lang="en-US" smtClean="0"/>
              <a:pPr/>
              <a:t>5/13/2026</a:t>
            </a:fld>
            <a:endParaRPr lang="en-US"/>
          </a:p>
        </p:txBody>
      </p:sp>
      <p:sp>
        <p:nvSpPr>
          <p:cNvPr id="4" name="Footer Placeholder 3"/>
          <p:cNvSpPr>
            <a:spLocks noGrp="1"/>
          </p:cNvSpPr>
          <p:nvPr>
            <p:ph type="ftr" sz="quarter" idx="2"/>
          </p:nvPr>
        </p:nvSpPr>
        <p:spPr>
          <a:xfrm>
            <a:off x="0" y="9521825"/>
            <a:ext cx="3368675" cy="5016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402138" y="9521825"/>
            <a:ext cx="3368675" cy="501650"/>
          </a:xfrm>
          <a:prstGeom prst="rect">
            <a:avLst/>
          </a:prstGeom>
        </p:spPr>
        <p:txBody>
          <a:bodyPr vert="horz" lIns="91440" tIns="45720" rIns="91440" bIns="45720" rtlCol="0" anchor="b"/>
          <a:lstStyle>
            <a:lvl1pPr algn="r">
              <a:defRPr sz="1200"/>
            </a:lvl1pPr>
          </a:lstStyle>
          <a:p>
            <a:fld id="{D066ED77-972E-49B8-AD19-70195E733580}" type="slidenum">
              <a:rPr lang="en-US" smtClean="0"/>
              <a:pPr/>
              <a:t>‹#›</a:t>
            </a:fld>
            <a:endParaRPr lang="en-US"/>
          </a:p>
        </p:txBody>
      </p:sp>
    </p:spTree>
    <p:extLst>
      <p:ext uri="{BB962C8B-B14F-4D97-AF65-F5344CB8AC3E}">
        <p14:creationId xmlns:p14="http://schemas.microsoft.com/office/powerpoint/2010/main" val="185685987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noChangeArrowheads="1"/>
          </p:cNvSpPr>
          <p:nvPr>
            <p:ph type="sldImg"/>
          </p:nvPr>
        </p:nvSpPr>
        <p:spPr bwMode="auto">
          <a:xfrm>
            <a:off x="1597025" y="1004888"/>
            <a:ext cx="4576763" cy="3432175"/>
          </a:xfrm>
          <a:prstGeom prst="rect">
            <a:avLst/>
          </a:prstGeom>
          <a:solidFill>
            <a:srgbClr val="FFFFFF"/>
          </a:solidFill>
          <a:ln w="9525">
            <a:noFill/>
            <a:miter lim="800000"/>
            <a:headEnd/>
            <a:tailEnd/>
          </a:ln>
        </p:spPr>
      </p:sp>
      <p:sp>
        <p:nvSpPr>
          <p:cNvPr id="2050" name="Rectangle 2"/>
          <p:cNvSpPr txBox="1">
            <a:spLocks noGrp="1" noChangeArrowheads="1"/>
          </p:cNvSpPr>
          <p:nvPr>
            <p:ph type="body" idx="1"/>
          </p:nvPr>
        </p:nvSpPr>
        <p:spPr bwMode="auto">
          <a:xfrm>
            <a:off x="1185863" y="4772025"/>
            <a:ext cx="5405437" cy="381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2953779918"/>
      </p:ext>
    </p:extLst>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p:sp>
      <p:sp>
        <p:nvSpPr>
          <p:cNvPr id="5123" name="Notes Placeholder 2"/>
          <p:cNvSpPr txBox="1">
            <a:spLocks noGrp="1"/>
          </p:cNvSpPr>
          <p:nvPr>
            <p:ph type="body" idx="1"/>
          </p:nvPr>
        </p:nvSpPr>
        <p:spPr>
          <a:noFill/>
          <a:ln/>
        </p:spPr>
        <p:txBody>
          <a:bodyPr/>
          <a:lstStyle/>
          <a:p>
            <a:endParaRPr lang="en-IN"/>
          </a:p>
        </p:txBody>
      </p:sp>
      <p:sp>
        <p:nvSpPr>
          <p:cNvPr id="5125" name="Header Placeholder 4"/>
          <p:cNvSpPr>
            <a:spLocks noGrp="1"/>
          </p:cNvSpPr>
          <p:nvPr>
            <p:ph type="hdr" sz="quarter" idx="4294967295"/>
          </p:nvPr>
        </p:nvSpPr>
        <p:spPr bwMode="auto">
          <a:xfrm>
            <a:off x="0" y="0"/>
            <a:ext cx="3368675" cy="501650"/>
          </a:xfrm>
          <a:prstGeom prst="rect">
            <a:avLst/>
          </a:prstGeom>
          <a:noFill/>
          <a:ln>
            <a:miter lim="800000"/>
            <a:headEnd/>
            <a:tailEnd/>
          </a:ln>
        </p:spPr>
        <p:txBody>
          <a:bodyPr lIns="101700" tIns="50850" rIns="101700" bIns="50850"/>
          <a:lstStyle/>
          <a:p>
            <a:endParaRPr lang="en-IN"/>
          </a:p>
        </p:txBody>
      </p:sp>
      <p:sp>
        <p:nvSpPr>
          <p:cNvPr id="5126" name="Footer Placeholder 5"/>
          <p:cNvSpPr>
            <a:spLocks noGrp="1"/>
          </p:cNvSpPr>
          <p:nvPr>
            <p:ph type="ftr" sz="quarter" idx="4294967295"/>
          </p:nvPr>
        </p:nvSpPr>
        <p:spPr bwMode="auto">
          <a:xfrm>
            <a:off x="0" y="9521825"/>
            <a:ext cx="3368675" cy="501650"/>
          </a:xfrm>
          <a:prstGeom prst="rect">
            <a:avLst/>
          </a:prstGeom>
          <a:noFill/>
          <a:ln>
            <a:miter lim="800000"/>
            <a:headEnd/>
            <a:tailEnd/>
          </a:ln>
        </p:spPr>
        <p:txBody>
          <a:bodyPr lIns="101700" tIns="50850" rIns="101700" bIns="50850"/>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p:sp>
      <p:sp>
        <p:nvSpPr>
          <p:cNvPr id="6147" name="Notes Placeholder 2"/>
          <p:cNvSpPr txBox="1">
            <a:spLocks noGrp="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4825" y="1763713"/>
            <a:ext cx="9072563"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3" y="1763713"/>
            <a:ext cx="446087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6438" y="5916613"/>
            <a:ext cx="6048375"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4825" y="1763713"/>
            <a:ext cx="9072563"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5" y="303213"/>
            <a:ext cx="6653213"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stretch>
            <a:fillRect l="-2000" r="-2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2pPr>
      <a:lvl3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3pPr>
      <a:lvl4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4pPr>
      <a:lvl5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5pPr>
      <a:lvl6pPr marL="18970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6pPr>
      <a:lvl7pPr marL="23542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7pPr>
      <a:lvl8pPr marL="28114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8pPr>
      <a:lvl9pPr marL="32686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9pPr>
    </p:titleStyle>
    <p:bodyStyle>
      <a:lvl1pPr marL="431800" indent="-323850" algn="l" defTabSz="457200" rtl="0" eaLnBrk="0" fontAlgn="base" hangingPunct="0">
        <a:spcBef>
          <a:spcPct val="0"/>
        </a:spcBef>
        <a:spcAft>
          <a:spcPts val="1413"/>
        </a:spcAft>
        <a:buClr>
          <a:srgbClr val="000000"/>
        </a:buClr>
        <a:buSzPct val="45000"/>
        <a:buFont typeface="StarBats" charset="0"/>
        <a:buChar char="&quot;"/>
        <a:defRPr sz="3200">
          <a:solidFill>
            <a:srgbClr val="000000"/>
          </a:solidFill>
          <a:latin typeface="+mn-lt"/>
          <a:ea typeface="+mn-ea"/>
          <a:cs typeface="+mn-cs"/>
        </a:defRPr>
      </a:lvl1pPr>
      <a:lvl2pPr marL="863600" indent="-287338" algn="l" defTabSz="457200" rtl="0" eaLnBrk="0" fontAlgn="base" hangingPunct="0">
        <a:spcBef>
          <a:spcPct val="0"/>
        </a:spcBef>
        <a:spcAft>
          <a:spcPts val="1125"/>
        </a:spcAft>
        <a:buClr>
          <a:srgbClr val="000000"/>
        </a:buClr>
        <a:buSzPct val="75000"/>
        <a:buFont typeface="StarBats" charset="0"/>
        <a:buChar char=""/>
        <a:defRPr sz="2800">
          <a:solidFill>
            <a:srgbClr val="000000"/>
          </a:solidFill>
          <a:latin typeface="+mn-lt"/>
        </a:defRPr>
      </a:lvl2pPr>
      <a:lvl3pPr marL="1295400" indent="-215900" algn="l" defTabSz="457200" rtl="0" eaLnBrk="0" fontAlgn="base" hangingPunct="0">
        <a:spcBef>
          <a:spcPct val="0"/>
        </a:spcBef>
        <a:spcAft>
          <a:spcPts val="850"/>
        </a:spcAft>
        <a:buClr>
          <a:srgbClr val="000000"/>
        </a:buClr>
        <a:buSzPct val="45000"/>
        <a:buFont typeface="StarBats" charset="0"/>
        <a:buChar char="&quot;"/>
        <a:defRPr sz="2400">
          <a:solidFill>
            <a:srgbClr val="000000"/>
          </a:solidFill>
          <a:latin typeface="+mn-lt"/>
        </a:defRPr>
      </a:lvl3pPr>
      <a:lvl4pPr marL="1727200" indent="-215900" algn="l" defTabSz="457200" rtl="0" eaLnBrk="0" fontAlgn="base" hangingPunct="0">
        <a:spcBef>
          <a:spcPct val="0"/>
        </a:spcBef>
        <a:spcAft>
          <a:spcPts val="563"/>
        </a:spcAft>
        <a:buClr>
          <a:srgbClr val="000000"/>
        </a:buClr>
        <a:buSzPct val="75000"/>
        <a:buFont typeface="StarBats" charset="0"/>
        <a:buChar char=""/>
        <a:defRPr sz="2000">
          <a:solidFill>
            <a:srgbClr val="000000"/>
          </a:solidFill>
          <a:latin typeface="+mn-lt"/>
        </a:defRPr>
      </a:lvl4pPr>
      <a:lvl5pPr marL="21590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5pPr>
      <a:lvl6pPr marL="26162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6pPr>
      <a:lvl7pPr marL="30734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7pPr>
      <a:lvl8pPr marL="35306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8pPr>
      <a:lvl9pPr marL="39878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6" name="Title 1"/>
          <p:cNvSpPr>
            <a:spLocks noGrp="1"/>
          </p:cNvSpPr>
          <p:nvPr>
            <p:ph type="title"/>
          </p:nvPr>
        </p:nvSpPr>
        <p:spPr bwMode="auto">
          <a:xfrm>
            <a:off x="504825" y="303213"/>
            <a:ext cx="9183687" cy="1258887"/>
          </a:xfrm>
          <a:noFill/>
          <a:ln>
            <a:miter lim="800000"/>
            <a:headEnd/>
            <a:tailEnd/>
          </a:ln>
        </p:spPr>
        <p:txBody>
          <a:bodyPr vert="horz" wrap="square" lIns="100794" tIns="50397" rIns="100794" bIns="50397" numCol="1" anchor="t" anchorCtr="0" compatLnSpc="1">
            <a:prstTxWarp prst="textNoShape">
              <a:avLst/>
            </a:prstTxWarp>
          </a:bodyPr>
          <a:lstStyle/>
          <a:p>
            <a:r>
              <a:rPr lang="en-US" dirty="0"/>
              <a:t> </a:t>
            </a:r>
            <a:endParaRPr lang="en-IN" dirty="0"/>
          </a:p>
        </p:txBody>
      </p:sp>
      <p:sp>
        <p:nvSpPr>
          <p:cNvPr id="1027" name="Rectangle 7"/>
          <p:cNvSpPr>
            <a:spLocks noChangeArrowheads="1"/>
          </p:cNvSpPr>
          <p:nvPr/>
        </p:nvSpPr>
        <p:spPr bwMode="auto">
          <a:xfrm>
            <a:off x="5973845" y="5075237"/>
            <a:ext cx="3581400" cy="1538883"/>
          </a:xfrm>
          <a:prstGeom prst="rect">
            <a:avLst/>
          </a:prstGeom>
          <a:noFill/>
          <a:ln w="9525">
            <a:noFill/>
            <a:miter lim="800000"/>
            <a:headEnd/>
            <a:tailEnd/>
          </a:ln>
        </p:spPr>
        <p:txBody>
          <a:bodyPr wrap="square" lIns="0" tIns="0" rIns="0" bIns="0">
            <a:spAutoFit/>
          </a:bodyPr>
          <a:lstStyle/>
          <a:p>
            <a:pPr>
              <a:buClr>
                <a:srgbClr val="000000"/>
              </a:buClr>
              <a:buSzPct val="38000"/>
              <a:tabLst>
                <a:tab pos="723900" algn="l"/>
                <a:tab pos="1447800" algn="l"/>
                <a:tab pos="2171700" algn="l"/>
                <a:tab pos="2895600" algn="l"/>
                <a:tab pos="3619500" algn="l"/>
              </a:tabLst>
            </a:pPr>
            <a:r>
              <a:rPr lang="en-US" sz="2000" b="1" u="sng" dirty="0">
                <a:solidFill>
                  <a:srgbClr val="FF0000"/>
                </a:solidFill>
                <a:latin typeface="Helvetica" charset="0"/>
              </a:rPr>
              <a:t>Submitted To:</a:t>
            </a:r>
          </a:p>
          <a:p>
            <a:pPr>
              <a:buClr>
                <a:srgbClr val="000000"/>
              </a:buClr>
              <a:buSzPct val="38000"/>
              <a:tabLst>
                <a:tab pos="723900" algn="l"/>
                <a:tab pos="1447800" algn="l"/>
                <a:tab pos="2171700" algn="l"/>
                <a:tab pos="2895600" algn="l"/>
                <a:tab pos="3619500" algn="l"/>
              </a:tabLst>
            </a:pPr>
            <a:r>
              <a:rPr lang="en-US" sz="2000" b="1" dirty="0" err="1">
                <a:solidFill>
                  <a:srgbClr val="FF0000"/>
                </a:solidFill>
                <a:latin typeface="Cambria" pitchFamily="18" charset="0"/>
              </a:rPr>
              <a:t>Ms.Punita</a:t>
            </a:r>
            <a:r>
              <a:rPr lang="en-US" sz="2000" b="1" dirty="0">
                <a:solidFill>
                  <a:srgbClr val="FF0000"/>
                </a:solidFill>
                <a:latin typeface="Cambria" pitchFamily="18" charset="0"/>
              </a:rPr>
              <a:t> </a:t>
            </a:r>
            <a:r>
              <a:rPr lang="en-US" sz="2000" b="1" dirty="0" err="1">
                <a:solidFill>
                  <a:srgbClr val="FF0000"/>
                </a:solidFill>
                <a:latin typeface="Cambria" pitchFamily="18" charset="0"/>
              </a:rPr>
              <a:t>Pawar</a:t>
            </a:r>
            <a:endParaRPr lang="en-US" sz="2000" b="1" dirty="0">
              <a:solidFill>
                <a:srgbClr val="FF0000"/>
              </a:solidFill>
              <a:latin typeface="Cambria" pitchFamily="18" charset="0"/>
            </a:endParaRPr>
          </a:p>
          <a:p>
            <a:pPr>
              <a:buClr>
                <a:srgbClr val="000000"/>
              </a:buClr>
              <a:buSzPct val="38000"/>
              <a:tabLst>
                <a:tab pos="723900" algn="l"/>
                <a:tab pos="1447800" algn="l"/>
                <a:tab pos="2171700" algn="l"/>
                <a:tab pos="2895600" algn="l"/>
                <a:tab pos="3619500" algn="l"/>
              </a:tabLst>
            </a:pPr>
            <a:r>
              <a:rPr lang="en-US" sz="2000" b="1">
                <a:solidFill>
                  <a:srgbClr val="FF0000"/>
                </a:solidFill>
                <a:latin typeface="Cambria" pitchFamily="18" charset="0"/>
              </a:rPr>
              <a:t>Assistant Professor </a:t>
            </a:r>
            <a:endParaRPr lang="en-US" sz="2000" b="1" dirty="0">
              <a:solidFill>
                <a:srgbClr val="FF0000"/>
              </a:solidFill>
              <a:latin typeface="Cambria" pitchFamily="18" charset="0"/>
            </a:endParaRPr>
          </a:p>
          <a:p>
            <a:pPr>
              <a:buClr>
                <a:srgbClr val="000000"/>
              </a:buClr>
              <a:buSzPct val="38000"/>
              <a:tabLst>
                <a:tab pos="723900" algn="l"/>
                <a:tab pos="1447800" algn="l"/>
                <a:tab pos="2171700" algn="l"/>
                <a:tab pos="2895600" algn="l"/>
                <a:tab pos="3619500" algn="l"/>
              </a:tabLst>
            </a:pPr>
            <a:r>
              <a:rPr lang="en-US" sz="2000" b="1" dirty="0">
                <a:solidFill>
                  <a:srgbClr val="FF0000"/>
                </a:solidFill>
                <a:latin typeface="Cambria" pitchFamily="18" charset="0"/>
              </a:rPr>
              <a:t>AI&amp;DS Department</a:t>
            </a:r>
          </a:p>
          <a:p>
            <a:pPr>
              <a:buClr>
                <a:srgbClr val="000000"/>
              </a:buClr>
              <a:buSzPct val="38000"/>
              <a:tabLst>
                <a:tab pos="723900" algn="l"/>
                <a:tab pos="1447800" algn="l"/>
                <a:tab pos="2171700" algn="l"/>
                <a:tab pos="2895600" algn="l"/>
                <a:tab pos="3619500" algn="l"/>
              </a:tabLst>
            </a:pPr>
            <a:endParaRPr lang="en-US" sz="2000" b="1" dirty="0">
              <a:solidFill>
                <a:srgbClr val="FF0000"/>
              </a:solidFill>
              <a:latin typeface="Cambria" pitchFamily="18" charset="0"/>
            </a:endParaRPr>
          </a:p>
        </p:txBody>
      </p:sp>
      <p:sp>
        <p:nvSpPr>
          <p:cNvPr id="1029" name="TextBox 10"/>
          <p:cNvSpPr txBox="1">
            <a:spLocks noChangeArrowheads="1"/>
          </p:cNvSpPr>
          <p:nvPr/>
        </p:nvSpPr>
        <p:spPr bwMode="auto">
          <a:xfrm>
            <a:off x="320206" y="5075237"/>
            <a:ext cx="4648200" cy="2009993"/>
          </a:xfrm>
          <a:prstGeom prst="rect">
            <a:avLst/>
          </a:prstGeom>
          <a:noFill/>
          <a:ln w="9525">
            <a:noFill/>
            <a:miter lim="800000"/>
            <a:headEnd/>
            <a:tailEnd/>
          </a:ln>
        </p:spPr>
        <p:txBody>
          <a:bodyPr wrap="square" lIns="100794" tIns="50397" rIns="100794" bIns="50397">
            <a:spAutoFit/>
          </a:bodyPr>
          <a:lstStyle/>
          <a:p>
            <a:pPr>
              <a:buClr>
                <a:srgbClr val="000000"/>
              </a:buClr>
              <a:buSzPct val="38000"/>
              <a:tabLst>
                <a:tab pos="723900" algn="l"/>
                <a:tab pos="1447800" algn="l"/>
                <a:tab pos="2171700" algn="l"/>
                <a:tab pos="2895600" algn="l"/>
                <a:tab pos="3619500" algn="l"/>
              </a:tabLst>
            </a:pPr>
            <a:r>
              <a:rPr lang="en-US" sz="2000" b="1" u="sng" dirty="0">
                <a:latin typeface="Cambria" pitchFamily="18" charset="0"/>
              </a:rPr>
              <a:t>Presented By:</a:t>
            </a:r>
          </a:p>
          <a:p>
            <a:pPr>
              <a:buClr>
                <a:srgbClr val="000000"/>
              </a:buClr>
              <a:buSzPct val="38000"/>
              <a:tabLst>
                <a:tab pos="723900" algn="l"/>
                <a:tab pos="1447800" algn="l"/>
                <a:tab pos="2171700" algn="l"/>
                <a:tab pos="2895600" algn="l"/>
                <a:tab pos="3619500" algn="l"/>
              </a:tabLst>
            </a:pPr>
            <a:endParaRPr lang="en-US" sz="400" b="1" u="sng" dirty="0">
              <a:latin typeface="Cambria" pitchFamily="18" charset="0"/>
            </a:endParaRPr>
          </a:p>
          <a:p>
            <a:pPr>
              <a:buClr>
                <a:srgbClr val="000000"/>
              </a:buClr>
              <a:buSzPct val="38000"/>
              <a:tabLst>
                <a:tab pos="723900" algn="l"/>
                <a:tab pos="1447800" algn="l"/>
                <a:tab pos="2171700" algn="l"/>
                <a:tab pos="2895600" algn="l"/>
                <a:tab pos="3619500" algn="l"/>
              </a:tabLst>
            </a:pPr>
            <a:r>
              <a:rPr lang="en-US" sz="2000" b="1" dirty="0">
                <a:latin typeface="Cambria" pitchFamily="18" charset="0"/>
              </a:rPr>
              <a:t>Kanishka Pareek, 20EJCAD029</a:t>
            </a:r>
          </a:p>
          <a:p>
            <a:pPr>
              <a:buClr>
                <a:srgbClr val="000000"/>
              </a:buClr>
              <a:buSzPct val="38000"/>
              <a:tabLst>
                <a:tab pos="723900" algn="l"/>
                <a:tab pos="1447800" algn="l"/>
                <a:tab pos="2171700" algn="l"/>
                <a:tab pos="2895600" algn="l"/>
                <a:tab pos="3619500" algn="l"/>
              </a:tabLst>
            </a:pPr>
            <a:r>
              <a:rPr lang="en-US" sz="2000" b="1" dirty="0" err="1">
                <a:latin typeface="Cambria" pitchFamily="18" charset="0"/>
              </a:rPr>
              <a:t>Aryank</a:t>
            </a:r>
            <a:r>
              <a:rPr lang="en-US" sz="2000" b="1" dirty="0">
                <a:latin typeface="Cambria" pitchFamily="18" charset="0"/>
              </a:rPr>
              <a:t> Gupta, 20EJCAD012</a:t>
            </a:r>
          </a:p>
          <a:p>
            <a:pPr>
              <a:buClr>
                <a:srgbClr val="000000"/>
              </a:buClr>
              <a:buSzPct val="38000"/>
              <a:tabLst>
                <a:tab pos="723900" algn="l"/>
                <a:tab pos="1447800" algn="l"/>
                <a:tab pos="2171700" algn="l"/>
                <a:tab pos="2895600" algn="l"/>
                <a:tab pos="3619500" algn="l"/>
              </a:tabLst>
            </a:pPr>
            <a:r>
              <a:rPr lang="en-US" sz="2000" b="1" dirty="0">
                <a:latin typeface="Cambria" pitchFamily="18" charset="0"/>
              </a:rPr>
              <a:t>Muskan Tambi, 20EJCAD046</a:t>
            </a:r>
          </a:p>
          <a:p>
            <a:pPr>
              <a:buClr>
                <a:srgbClr val="000000"/>
              </a:buClr>
              <a:buSzPct val="38000"/>
              <a:tabLst>
                <a:tab pos="723900" algn="l"/>
                <a:tab pos="1447800" algn="l"/>
                <a:tab pos="2171700" algn="l"/>
                <a:tab pos="2895600" algn="l"/>
                <a:tab pos="3619500" algn="l"/>
              </a:tabLst>
            </a:pPr>
            <a:r>
              <a:rPr lang="en-US" sz="2000" b="1" dirty="0" err="1">
                <a:latin typeface="Cambria" pitchFamily="18" charset="0"/>
              </a:rPr>
              <a:t>Sujal</a:t>
            </a:r>
            <a:r>
              <a:rPr lang="en-US" sz="2000" b="1" dirty="0">
                <a:latin typeface="Cambria" pitchFamily="18" charset="0"/>
              </a:rPr>
              <a:t> Jain, 20EJCAD064</a:t>
            </a:r>
          </a:p>
          <a:p>
            <a:pPr>
              <a:buClr>
                <a:srgbClr val="000000"/>
              </a:buClr>
              <a:buSzPct val="38000"/>
              <a:tabLst>
                <a:tab pos="723900" algn="l"/>
                <a:tab pos="1447800" algn="l"/>
                <a:tab pos="2171700" algn="l"/>
                <a:tab pos="2895600" algn="l"/>
                <a:tab pos="3619500" algn="l"/>
              </a:tabLst>
            </a:pPr>
            <a:r>
              <a:rPr lang="en-US" sz="2000" b="1" dirty="0">
                <a:latin typeface="Cambria" pitchFamily="18" charset="0"/>
              </a:rPr>
              <a:t>8</a:t>
            </a:r>
            <a:r>
              <a:rPr lang="en-US" sz="2000" b="1" baseline="30000" dirty="0">
                <a:latin typeface="Cambria" pitchFamily="18" charset="0"/>
              </a:rPr>
              <a:t>TH</a:t>
            </a:r>
            <a:r>
              <a:rPr lang="en-US" sz="2000" b="1" dirty="0">
                <a:latin typeface="Cambria" pitchFamily="18" charset="0"/>
              </a:rPr>
              <a:t> SEM AI&amp;DS </a:t>
            </a:r>
          </a:p>
        </p:txBody>
      </p:sp>
      <p:sp>
        <p:nvSpPr>
          <p:cNvPr id="1030" name="Text Box 1"/>
          <p:cNvSpPr txBox="1">
            <a:spLocks noChangeArrowheads="1"/>
          </p:cNvSpPr>
          <p:nvPr/>
        </p:nvSpPr>
        <p:spPr bwMode="auto">
          <a:xfrm>
            <a:off x="1077912" y="1341438"/>
            <a:ext cx="8153400" cy="2092881"/>
          </a:xfrm>
          <a:prstGeom prst="rect">
            <a:avLst/>
          </a:prstGeom>
          <a:noFill/>
          <a:ln w="9525">
            <a:noFill/>
            <a:miter lim="800000"/>
            <a:headEnd/>
            <a:tailEnd/>
          </a:ln>
        </p:spPr>
        <p:txBody>
          <a:bodyPr wrap="square" lIns="0" tIns="0" rIns="0" bIns="0">
            <a:spAutoFit/>
          </a:bodyPr>
          <a:lstStyle/>
          <a:p>
            <a:pPr algn="ctr">
              <a:buClr>
                <a:srgbClr val="000000"/>
              </a:buClr>
              <a:buSzPct val="38000"/>
              <a:buFont typeface="StarBats" charset="0"/>
              <a:buNone/>
              <a:tabLst>
                <a:tab pos="723900" algn="l"/>
                <a:tab pos="1447800" algn="l"/>
                <a:tab pos="2171700" algn="l"/>
                <a:tab pos="2895600" algn="l"/>
                <a:tab pos="3619500" algn="l"/>
              </a:tabLst>
            </a:pPr>
            <a:r>
              <a:rPr lang="en-GB" sz="3600" b="1" dirty="0">
                <a:solidFill>
                  <a:srgbClr val="FF0000"/>
                </a:solidFill>
                <a:latin typeface="Cambria" pitchFamily="18" charset="0"/>
              </a:rPr>
              <a:t> Project</a:t>
            </a:r>
          </a:p>
          <a:p>
            <a:pPr algn="ctr">
              <a:buClr>
                <a:srgbClr val="000000"/>
              </a:buClr>
              <a:buSzPct val="38000"/>
              <a:buFont typeface="StarBats" charset="0"/>
              <a:buNone/>
              <a:tabLst>
                <a:tab pos="723900" algn="l"/>
                <a:tab pos="1447800" algn="l"/>
                <a:tab pos="2171700" algn="l"/>
                <a:tab pos="2895600" algn="l"/>
                <a:tab pos="3619500" algn="l"/>
              </a:tabLst>
            </a:pPr>
            <a:r>
              <a:rPr lang="en-GB" b="1" dirty="0">
                <a:solidFill>
                  <a:srgbClr val="FF0000"/>
                </a:solidFill>
                <a:latin typeface="Cambria" pitchFamily="18" charset="0"/>
              </a:rPr>
              <a:t>on</a:t>
            </a:r>
            <a:r>
              <a:rPr lang="en-GB" sz="3600" b="1" dirty="0">
                <a:solidFill>
                  <a:srgbClr val="FF0000"/>
                </a:solidFill>
                <a:latin typeface="Cambria" pitchFamily="18" charset="0"/>
              </a:rPr>
              <a:t> </a:t>
            </a:r>
          </a:p>
          <a:p>
            <a:pPr algn="ctr">
              <a:buClr>
                <a:srgbClr val="000000"/>
              </a:buClr>
              <a:buSzPct val="38000"/>
              <a:buFont typeface="StarBats" charset="0"/>
              <a:buNone/>
              <a:tabLst>
                <a:tab pos="723900" algn="l"/>
                <a:tab pos="1447800" algn="l"/>
                <a:tab pos="2171700" algn="l"/>
                <a:tab pos="2895600" algn="l"/>
                <a:tab pos="3619500" algn="l"/>
              </a:tabLst>
            </a:pPr>
            <a:r>
              <a:rPr lang="en-GB" sz="3200" b="1" dirty="0">
                <a:solidFill>
                  <a:srgbClr val="FF0000"/>
                </a:solidFill>
                <a:latin typeface="Cambria" pitchFamily="18" charset="0"/>
              </a:rPr>
              <a:t>“Earthquake Prediction Using Machine Learning”</a:t>
            </a:r>
            <a:endParaRPr lang="en-GB" sz="3200" b="1" dirty="0">
              <a:solidFill>
                <a:srgbClr val="FF0000"/>
              </a:solidFill>
              <a:latin typeface="Helvetica" charset="0"/>
            </a:endParaRPr>
          </a:p>
        </p:txBody>
      </p:sp>
      <p:sp>
        <p:nvSpPr>
          <p:cNvPr id="6146" name="AutoShape 2"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48" name="AutoShape 4"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50" name="AutoShape 6"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52" name="AutoShape 8"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54" name="AutoShape 10"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156" name="AutoShape 12" descr="Image result for jecrc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6157" name="Picture 13" descr="C:\Users\Guest\Desktop\logo_jecrc.jpg"/>
          <p:cNvPicPr>
            <a:picLocks noChangeAspect="1" noChangeArrowheads="1"/>
          </p:cNvPicPr>
          <p:nvPr/>
        </p:nvPicPr>
        <p:blipFill>
          <a:blip r:embed="rId3"/>
          <a:srcRect/>
          <a:stretch>
            <a:fillRect/>
          </a:stretch>
        </p:blipFill>
        <p:spPr bwMode="auto">
          <a:xfrm>
            <a:off x="3897312" y="3589338"/>
            <a:ext cx="1905000" cy="1485899"/>
          </a:xfrm>
          <a:prstGeom prst="rect">
            <a:avLst/>
          </a:prstGeom>
          <a:noFill/>
        </p:spPr>
      </p:pic>
    </p:spTree>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52000" y="190799"/>
            <a:ext cx="6706800" cy="1144800"/>
          </a:xfrm>
          <a:prstGeom prst="rect">
            <a:avLst/>
          </a:prstGeom>
        </p:spPr>
        <p:txBody>
          <a:bodyPr lIns="100794" tIns="50397" rIns="100794" bIns="50397"/>
          <a:lstStyle/>
          <a:p>
            <a:pPr defTabSz="457200">
              <a:buClr>
                <a:srgbClr val="000000"/>
              </a:buClr>
              <a:buSzPct val="45000"/>
              <a:buFont typeface="StarBats" charset="0"/>
              <a:buNone/>
              <a:defRPr/>
            </a:pPr>
            <a:r>
              <a:rPr lang="en-US" sz="4000" b="1" kern="0" dirty="0">
                <a:solidFill>
                  <a:srgbClr val="FF0000"/>
                </a:solidFill>
                <a:latin typeface="+mj-lt"/>
                <a:ea typeface="+mj-ea"/>
                <a:cs typeface="+mj-cs"/>
              </a:rPr>
              <a:t>Contents</a:t>
            </a:r>
          </a:p>
        </p:txBody>
      </p:sp>
      <p:sp>
        <p:nvSpPr>
          <p:cNvPr id="2" name="TextBox 1">
            <a:extLst>
              <a:ext uri="{FF2B5EF4-FFF2-40B4-BE49-F238E27FC236}">
                <a16:creationId xmlns:a16="http://schemas.microsoft.com/office/drawing/2014/main" id="{7B92C537-A8A0-DC9E-8DAE-01D7BF6A20B4}"/>
              </a:ext>
            </a:extLst>
          </p:cNvPr>
          <p:cNvSpPr txBox="1"/>
          <p:nvPr/>
        </p:nvSpPr>
        <p:spPr>
          <a:xfrm>
            <a:off x="252000" y="2027237"/>
            <a:ext cx="9284112" cy="4457952"/>
          </a:xfrm>
          <a:prstGeom prst="rect">
            <a:avLst/>
          </a:prstGeom>
          <a:noFill/>
        </p:spPr>
        <p:txBody>
          <a:bodyPr wrap="square" rtlCol="0">
            <a:spAutoFit/>
          </a:bodyPr>
          <a:lstStyle/>
          <a:p>
            <a:pPr marL="457200" indent="-457200">
              <a:lnSpc>
                <a:spcPct val="150000"/>
              </a:lnSpc>
              <a:buFont typeface="+mj-lt"/>
              <a:buAutoNum type="arabicPeriod"/>
            </a:pPr>
            <a:r>
              <a:rPr lang="en-IN" dirty="0">
                <a:latin typeface="+mn-lt"/>
              </a:rPr>
              <a:t>Problem Statement</a:t>
            </a:r>
          </a:p>
          <a:p>
            <a:pPr marL="457200" indent="-457200">
              <a:lnSpc>
                <a:spcPct val="150000"/>
              </a:lnSpc>
              <a:buFont typeface="+mj-lt"/>
              <a:buAutoNum type="arabicPeriod"/>
            </a:pPr>
            <a:r>
              <a:rPr lang="en-IN" dirty="0">
                <a:latin typeface="+mn-lt"/>
              </a:rPr>
              <a:t>Objective</a:t>
            </a:r>
          </a:p>
          <a:p>
            <a:pPr marL="457200" indent="-457200">
              <a:lnSpc>
                <a:spcPct val="150000"/>
              </a:lnSpc>
              <a:buFont typeface="+mj-lt"/>
              <a:buAutoNum type="arabicPeriod"/>
            </a:pPr>
            <a:r>
              <a:rPr lang="en-IN" dirty="0">
                <a:latin typeface="+mn-lt"/>
              </a:rPr>
              <a:t>Approach</a:t>
            </a:r>
          </a:p>
          <a:p>
            <a:pPr marL="457200" indent="-457200">
              <a:lnSpc>
                <a:spcPct val="150000"/>
              </a:lnSpc>
              <a:buFont typeface="+mj-lt"/>
              <a:buAutoNum type="arabicPeriod"/>
            </a:pPr>
            <a:r>
              <a:rPr lang="en-IN" dirty="0">
                <a:latin typeface="+mn-lt"/>
              </a:rPr>
              <a:t>Project Description</a:t>
            </a:r>
          </a:p>
          <a:p>
            <a:pPr marL="457200" indent="-457200">
              <a:lnSpc>
                <a:spcPct val="150000"/>
              </a:lnSpc>
              <a:buFont typeface="+mj-lt"/>
              <a:buAutoNum type="arabicPeriod"/>
            </a:pPr>
            <a:r>
              <a:rPr lang="en-IN" dirty="0">
                <a:latin typeface="+mn-lt"/>
              </a:rPr>
              <a:t>Implementation</a:t>
            </a:r>
          </a:p>
          <a:p>
            <a:pPr marL="457200" indent="-457200">
              <a:lnSpc>
                <a:spcPct val="150000"/>
              </a:lnSpc>
              <a:buFont typeface="+mj-lt"/>
              <a:buAutoNum type="arabicPeriod"/>
            </a:pPr>
            <a:r>
              <a:rPr lang="en-IN" dirty="0">
                <a:latin typeface="+mn-lt"/>
              </a:rPr>
              <a:t>Tools/Technologies Required</a:t>
            </a:r>
          </a:p>
          <a:p>
            <a:pPr marL="457200" indent="-457200">
              <a:lnSpc>
                <a:spcPct val="150000"/>
              </a:lnSpc>
              <a:buFont typeface="+mj-lt"/>
              <a:buAutoNum type="arabicPeriod"/>
            </a:pPr>
            <a:r>
              <a:rPr lang="en-IN" dirty="0">
                <a:latin typeface="+mn-lt"/>
              </a:rPr>
              <a:t>Conclusion</a:t>
            </a:r>
          </a:p>
          <a:p>
            <a:pPr marL="457200" indent="-457200">
              <a:lnSpc>
                <a:spcPct val="150000"/>
              </a:lnSpc>
              <a:buFont typeface="+mj-lt"/>
              <a:buAutoNum type="arabicPeriod"/>
            </a:pPr>
            <a:r>
              <a:rPr lang="en-IN" dirty="0">
                <a:latin typeface="+mn-lt"/>
              </a:rPr>
              <a:t>References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6800" cy="1144800"/>
          </a:xfrm>
        </p:spPr>
        <p:txBody>
          <a:bodyPr/>
          <a:lstStyle/>
          <a:p>
            <a:pPr algn="l"/>
            <a:r>
              <a:rPr lang="en-US" sz="4000" b="1" dirty="0">
                <a:solidFill>
                  <a:srgbClr val="FF0000"/>
                </a:solidFill>
              </a:rPr>
              <a:t>Problem Statement</a:t>
            </a:r>
            <a:br>
              <a:rPr lang="en-US" sz="4000" b="1" dirty="0">
                <a:solidFill>
                  <a:srgbClr val="FF0000"/>
                </a:solidFill>
              </a:rPr>
            </a:br>
            <a:endParaRPr lang="en-US" sz="4000" dirty="0"/>
          </a:p>
        </p:txBody>
      </p:sp>
      <p:sp>
        <p:nvSpPr>
          <p:cNvPr id="3" name="Content Placeholder 2"/>
          <p:cNvSpPr>
            <a:spLocks noGrp="1"/>
          </p:cNvSpPr>
          <p:nvPr>
            <p:ph idx="1"/>
          </p:nvPr>
        </p:nvSpPr>
        <p:spPr>
          <a:xfrm>
            <a:off x="315912" y="1493836"/>
            <a:ext cx="9296400" cy="5867401"/>
          </a:xfrm>
        </p:spPr>
        <p:txBody>
          <a:bodyPr/>
          <a:lstStyle/>
          <a:p>
            <a:pPr marL="107950" indent="0" algn="ctr">
              <a:lnSpc>
                <a:spcPct val="150000"/>
              </a:lnSpc>
              <a:buNone/>
            </a:pPr>
            <a:r>
              <a:rPr lang="en-US" sz="2400" dirty="0"/>
              <a:t> Awareness and Preparedness Towards Disaster Management</a:t>
            </a:r>
          </a:p>
          <a:p>
            <a:pPr marL="107950" indent="0" algn="ctr">
              <a:lnSpc>
                <a:spcPct val="150000"/>
              </a:lnSpc>
              <a:buNone/>
            </a:pPr>
            <a:endParaRPr lang="en-US" sz="100" dirty="0"/>
          </a:p>
          <a:p>
            <a:pPr marL="107950" indent="0" algn="ctr">
              <a:lnSpc>
                <a:spcPct val="150000"/>
              </a:lnSpc>
              <a:buNone/>
            </a:pPr>
            <a:r>
              <a:rPr lang="en-US" sz="2400" dirty="0"/>
              <a:t>Mock exercises, School Safety Programs (SSP), and Community Awareness Programs (CAP) conducted by disaster management authorities aim to enhance community preparedness for earthquakes, leveraging earthquake prediction datasets. Through simulations and drills, these exercises identify response gaps and improve readiness. Timely notification and participation ensure communities are prepared for future seismic events, with access to resources and information provided by Disaster Management Authorities.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6800" cy="1144800"/>
          </a:xfrm>
        </p:spPr>
        <p:txBody>
          <a:bodyPr/>
          <a:lstStyle/>
          <a:p>
            <a:pPr algn="l"/>
            <a:r>
              <a:rPr lang="en-US" sz="4000" b="1" dirty="0">
                <a:solidFill>
                  <a:srgbClr val="FF0000"/>
                </a:solidFill>
              </a:rPr>
              <a:t>Objective</a:t>
            </a:r>
            <a:br>
              <a:rPr lang="en-US" sz="4000" b="1" dirty="0">
                <a:solidFill>
                  <a:srgbClr val="FF0000"/>
                </a:solidFill>
              </a:rPr>
            </a:br>
            <a:endParaRPr lang="en-US" sz="4000" dirty="0"/>
          </a:p>
        </p:txBody>
      </p:sp>
      <p:sp>
        <p:nvSpPr>
          <p:cNvPr id="3" name="Content Placeholder 2"/>
          <p:cNvSpPr>
            <a:spLocks noGrp="1"/>
          </p:cNvSpPr>
          <p:nvPr>
            <p:ph idx="1"/>
          </p:nvPr>
        </p:nvSpPr>
        <p:spPr>
          <a:xfrm>
            <a:off x="239712" y="1722437"/>
            <a:ext cx="9220200" cy="5715000"/>
          </a:xfrm>
        </p:spPr>
        <p:txBody>
          <a:bodyPr/>
          <a:lstStyle/>
          <a:p>
            <a:pPr algn="just">
              <a:lnSpc>
                <a:spcPct val="150000"/>
              </a:lnSpc>
              <a:buFont typeface="Wingdings" pitchFamily="2" charset="2"/>
              <a:buChar char="v"/>
            </a:pPr>
            <a:r>
              <a:rPr lang="en-US" sz="2400" dirty="0"/>
              <a:t>By conducting community awareness programs (CAP), school safety programs (SSP), and mock exercises, stakeholders like NDRF/SDRF may further the goal of improving community preparedness and response skills for disasters. Through simulating actual situations, identifying response gaps, and enhancing preparedness, these projects hope to ensure prompt registration and participation for efficient disaster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6800" cy="1144800"/>
          </a:xfrm>
        </p:spPr>
        <p:txBody>
          <a:bodyPr/>
          <a:lstStyle/>
          <a:p>
            <a:pPr algn="l"/>
            <a:r>
              <a:rPr lang="en-US" sz="4000" b="1" dirty="0">
                <a:solidFill>
                  <a:srgbClr val="FF0000"/>
                </a:solidFill>
              </a:rPr>
              <a:t>Approach</a:t>
            </a:r>
            <a:endParaRPr lang="en-US" sz="4000" dirty="0"/>
          </a:p>
        </p:txBody>
      </p:sp>
      <p:sp>
        <p:nvSpPr>
          <p:cNvPr id="3" name="Content Placeholder 2"/>
          <p:cNvSpPr>
            <a:spLocks noGrp="1"/>
          </p:cNvSpPr>
          <p:nvPr>
            <p:ph idx="1"/>
          </p:nvPr>
        </p:nvSpPr>
        <p:spPr>
          <a:xfrm>
            <a:off x="315912" y="1646237"/>
            <a:ext cx="9296400" cy="5105400"/>
          </a:xfrm>
        </p:spPr>
        <p:txBody>
          <a:bodyPr/>
          <a:lstStyle/>
          <a:p>
            <a:pPr algn="just">
              <a:lnSpc>
                <a:spcPct val="150000"/>
              </a:lnSpc>
              <a:buNone/>
            </a:pPr>
            <a:r>
              <a:rPr lang="en-US" sz="2000" dirty="0"/>
              <a:t>	</a:t>
            </a:r>
          </a:p>
        </p:txBody>
      </p:sp>
      <p:sp>
        <p:nvSpPr>
          <p:cNvPr id="4" name="TextBox 3"/>
          <p:cNvSpPr txBox="1"/>
          <p:nvPr/>
        </p:nvSpPr>
        <p:spPr>
          <a:xfrm>
            <a:off x="252000" y="1951037"/>
            <a:ext cx="9360311" cy="3903954"/>
          </a:xfrm>
          <a:prstGeom prst="rect">
            <a:avLst/>
          </a:prstGeom>
          <a:noFill/>
        </p:spPr>
        <p:txBody>
          <a:bodyPr wrap="square" rtlCol="0">
            <a:spAutoFit/>
          </a:bodyPr>
          <a:lstStyle/>
          <a:p>
            <a:pPr algn="just">
              <a:lnSpc>
                <a:spcPct val="150000"/>
              </a:lnSpc>
            </a:pPr>
            <a:r>
              <a:rPr lang="en-US" dirty="0">
                <a:latin typeface="+mn-lt"/>
              </a:rPr>
              <a:t>In our approach, we utilize earthquake datasets to construct machine learning models, including Linear Regression, Ridge Regression, Lasso Regression, Random Forest </a:t>
            </a:r>
            <a:r>
              <a:rPr lang="en-US" dirty="0" err="1">
                <a:latin typeface="+mn-lt"/>
              </a:rPr>
              <a:t>Regressor</a:t>
            </a:r>
            <a:r>
              <a:rPr lang="en-US" dirty="0">
                <a:latin typeface="+mn-lt"/>
              </a:rPr>
              <a:t>, Gradient Boosting </a:t>
            </a:r>
            <a:r>
              <a:rPr lang="en-US" dirty="0" err="1">
                <a:latin typeface="+mn-lt"/>
              </a:rPr>
              <a:t>Regressor</a:t>
            </a:r>
            <a:r>
              <a:rPr lang="en-US" dirty="0">
                <a:latin typeface="+mn-lt"/>
              </a:rPr>
              <a:t>, Support Vector </a:t>
            </a:r>
            <a:r>
              <a:rPr lang="en-US" dirty="0" err="1">
                <a:latin typeface="+mn-lt"/>
              </a:rPr>
              <a:t>Regressor</a:t>
            </a:r>
            <a:r>
              <a:rPr lang="en-US" dirty="0">
                <a:latin typeface="+mn-lt"/>
              </a:rPr>
              <a:t> (SVR), and K-Nearest Neighbors </a:t>
            </a:r>
            <a:r>
              <a:rPr lang="en-US" dirty="0" err="1">
                <a:latin typeface="+mn-lt"/>
              </a:rPr>
              <a:t>Regressor</a:t>
            </a:r>
            <a:r>
              <a:rPr lang="en-US" dirty="0">
                <a:latin typeface="+mn-lt"/>
              </a:rPr>
              <a:t>. By employing these diverse algorithms, we aim to predict earthquake occurrences with enhanced accuracy, facilitating more effective disaster preparedness and response measures.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6800" cy="1144800"/>
          </a:xfrm>
        </p:spPr>
        <p:txBody>
          <a:bodyPr/>
          <a:lstStyle/>
          <a:p>
            <a:pPr algn="l"/>
            <a:r>
              <a:rPr lang="en-US" sz="4000" b="1" dirty="0">
                <a:solidFill>
                  <a:srgbClr val="FF0000"/>
                </a:solidFill>
              </a:rPr>
              <a:t>Project Description</a:t>
            </a:r>
            <a:endParaRPr lang="en-US" sz="4000" dirty="0"/>
          </a:p>
        </p:txBody>
      </p:sp>
      <p:sp>
        <p:nvSpPr>
          <p:cNvPr id="3" name="Content Placeholder 2"/>
          <p:cNvSpPr>
            <a:spLocks noGrp="1"/>
          </p:cNvSpPr>
          <p:nvPr>
            <p:ph idx="1"/>
          </p:nvPr>
        </p:nvSpPr>
        <p:spPr>
          <a:xfrm>
            <a:off x="239712" y="1913267"/>
            <a:ext cx="9301164" cy="5334000"/>
          </a:xfrm>
        </p:spPr>
        <p:txBody>
          <a:bodyPr/>
          <a:lstStyle/>
          <a:p>
            <a:pPr algn="just">
              <a:lnSpc>
                <a:spcPct val="150000"/>
              </a:lnSpc>
              <a:buFont typeface="Wingdings" panose="05000000000000000000" pitchFamily="2" charset="2"/>
              <a:buChar char="v"/>
            </a:pPr>
            <a:r>
              <a:rPr lang="en-US" sz="2400" dirty="0"/>
              <a:t>This project aims to develop a robust earthquake prediction model utilizing machine learning algorithms. Earthquakes pose significant risks to communities worldwide, and accurate predictions can help mitigate their impact.</a:t>
            </a:r>
          </a:p>
          <a:p>
            <a:pPr algn="just">
              <a:lnSpc>
                <a:spcPct val="150000"/>
              </a:lnSpc>
              <a:buFont typeface="Wingdings" panose="05000000000000000000" pitchFamily="2" charset="2"/>
              <a:buChar char="v"/>
            </a:pPr>
            <a:r>
              <a:rPr lang="en-US" sz="2400" dirty="0"/>
              <a:t> The implementation involves several key steps.</a:t>
            </a:r>
          </a:p>
          <a:p>
            <a:pPr algn="just">
              <a:lnSpc>
                <a:spcPct val="150000"/>
              </a:lnSpc>
              <a:buFont typeface="Wingdings" panose="05000000000000000000" pitchFamily="2" charset="2"/>
              <a:buChar char="v"/>
            </a:pPr>
            <a:r>
              <a:rPr lang="en-US" sz="2400" dirty="0"/>
              <a:t> Firstly, we'll gather a comprehensive dataset comprising historical earthquake data, including seismic activity, geographical features, and relevant environmental factors.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5AC145-77EE-7004-1E77-6ECC28D0F473}"/>
              </a:ext>
            </a:extLst>
          </p:cNvPr>
          <p:cNvSpPr>
            <a:spLocks noGrp="1"/>
          </p:cNvSpPr>
          <p:nvPr>
            <p:ph idx="1"/>
          </p:nvPr>
        </p:nvSpPr>
        <p:spPr>
          <a:xfrm>
            <a:off x="239713" y="1874837"/>
            <a:ext cx="9296400" cy="5684838"/>
          </a:xfrm>
        </p:spPr>
        <p:txBody>
          <a:bodyPr/>
          <a:lstStyle/>
          <a:p>
            <a:pPr algn="just">
              <a:lnSpc>
                <a:spcPct val="150000"/>
              </a:lnSpc>
              <a:buFont typeface="Wingdings" panose="05000000000000000000" pitchFamily="2" charset="2"/>
              <a:buChar char="v"/>
            </a:pPr>
            <a:r>
              <a:rPr lang="en-US" sz="2400" dirty="0"/>
              <a:t>This data will be preprocessed to remove noise and outliers, ensuring the quality of input features.</a:t>
            </a:r>
          </a:p>
          <a:p>
            <a:pPr algn="just">
              <a:lnSpc>
                <a:spcPct val="150000"/>
              </a:lnSpc>
              <a:buFont typeface="Wingdings" panose="05000000000000000000" pitchFamily="2" charset="2"/>
              <a:buChar char="v"/>
            </a:pPr>
            <a:r>
              <a:rPr lang="en-US" sz="2400" dirty="0"/>
              <a:t>Next, we'll employ various machine learning techniques such as regression, classification, and clustering to build predictive models. These models will analyze patterns in the data to forecast the likelihood and intensity of future earthquakes.</a:t>
            </a:r>
          </a:p>
          <a:p>
            <a:pPr algn="just">
              <a:lnSpc>
                <a:spcPct val="150000"/>
              </a:lnSpc>
              <a:buFont typeface="Wingdings" panose="05000000000000000000" pitchFamily="2" charset="2"/>
              <a:buChar char="v"/>
            </a:pPr>
            <a:r>
              <a:rPr lang="en-US" sz="2400" dirty="0"/>
              <a:t> Feature engineering will play a crucial role in extracting relevant information and enhancing the predictive power of the models.</a:t>
            </a:r>
          </a:p>
        </p:txBody>
      </p:sp>
    </p:spTree>
    <p:extLst>
      <p:ext uri="{BB962C8B-B14F-4D97-AF65-F5344CB8AC3E}">
        <p14:creationId xmlns:p14="http://schemas.microsoft.com/office/powerpoint/2010/main" val="4060156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C39A48-7663-FE85-0EE8-15BD366BF0B8}"/>
              </a:ext>
            </a:extLst>
          </p:cNvPr>
          <p:cNvSpPr>
            <a:spLocks noGrp="1"/>
          </p:cNvSpPr>
          <p:nvPr>
            <p:ph idx="1"/>
          </p:nvPr>
        </p:nvSpPr>
        <p:spPr>
          <a:xfrm>
            <a:off x="239712" y="1874837"/>
            <a:ext cx="9220200" cy="5684838"/>
          </a:xfrm>
        </p:spPr>
        <p:txBody>
          <a:bodyPr/>
          <a:lstStyle/>
          <a:p>
            <a:pPr algn="just">
              <a:lnSpc>
                <a:spcPct val="150000"/>
              </a:lnSpc>
              <a:buFont typeface="Wingdings" panose="05000000000000000000" pitchFamily="2" charset="2"/>
              <a:buChar char="v"/>
            </a:pPr>
            <a:r>
              <a:rPr lang="en-US" sz="2400" dirty="0"/>
              <a:t>Additionally, we'll implement model evaluation techniques such as cross-validation and performance metrics like accuracy, precision, and recall to assess the efficacy of our predictions. Iterative refinement of the models will be conducted to enhance their accuracy and reliability.</a:t>
            </a:r>
          </a:p>
          <a:p>
            <a:pPr algn="just">
              <a:lnSpc>
                <a:spcPct val="150000"/>
              </a:lnSpc>
              <a:buFont typeface="Wingdings" panose="05000000000000000000" pitchFamily="2" charset="2"/>
              <a:buChar char="v"/>
            </a:pPr>
            <a:r>
              <a:rPr lang="en-US" sz="2400" dirty="0"/>
              <a:t>Finally, we'll deploy the earthquake prediction model in a user-friendly interface, enabling stakeholders to access real-time earthquake forecasts and take proactive measures to minimize risks and ensure public safety.</a:t>
            </a:r>
          </a:p>
          <a:p>
            <a:pPr algn="just">
              <a:lnSpc>
                <a:spcPct val="150000"/>
              </a:lnSpc>
              <a:buFont typeface="Wingdings" panose="05000000000000000000" pitchFamily="2" charset="2"/>
              <a:buChar char="v"/>
            </a:pPr>
            <a:endParaRPr lang="en-IN" sz="2400" dirty="0"/>
          </a:p>
        </p:txBody>
      </p:sp>
    </p:spTree>
    <p:extLst>
      <p:ext uri="{BB962C8B-B14F-4D97-AF65-F5344CB8AC3E}">
        <p14:creationId xmlns:p14="http://schemas.microsoft.com/office/powerpoint/2010/main" val="2838823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6E454-6B01-295D-E5A9-235B01C77F5D}"/>
              </a:ext>
            </a:extLst>
          </p:cNvPr>
          <p:cNvSpPr>
            <a:spLocks noGrp="1"/>
          </p:cNvSpPr>
          <p:nvPr>
            <p:ph type="title"/>
          </p:nvPr>
        </p:nvSpPr>
        <p:spPr>
          <a:xfrm>
            <a:off x="252000" y="190800"/>
            <a:ext cx="6706800" cy="1144800"/>
          </a:xfrm>
        </p:spPr>
        <p:txBody>
          <a:bodyPr/>
          <a:lstStyle/>
          <a:p>
            <a:pPr algn="l"/>
            <a:r>
              <a:rPr lang="en-US" sz="4000" b="1" dirty="0">
                <a:solidFill>
                  <a:srgbClr val="FF0000"/>
                </a:solidFill>
              </a:rPr>
              <a:t>Implementation</a:t>
            </a:r>
            <a:endParaRPr lang="en-IN" sz="4000" dirty="0"/>
          </a:p>
        </p:txBody>
      </p:sp>
      <p:sp>
        <p:nvSpPr>
          <p:cNvPr id="3" name="Content Placeholder 2">
            <a:extLst>
              <a:ext uri="{FF2B5EF4-FFF2-40B4-BE49-F238E27FC236}">
                <a16:creationId xmlns:a16="http://schemas.microsoft.com/office/drawing/2014/main" id="{9FDD3003-D97C-0053-5788-B47210303C2A}"/>
              </a:ext>
            </a:extLst>
          </p:cNvPr>
          <p:cNvSpPr>
            <a:spLocks noGrp="1"/>
          </p:cNvSpPr>
          <p:nvPr>
            <p:ph idx="1"/>
          </p:nvPr>
        </p:nvSpPr>
        <p:spPr>
          <a:xfrm>
            <a:off x="239713" y="1874837"/>
            <a:ext cx="9525000" cy="5562600"/>
          </a:xfrm>
        </p:spPr>
        <p:txBody>
          <a:bodyPr/>
          <a:lstStyle/>
          <a:p>
            <a:pPr algn="just">
              <a:buFont typeface="Wingdings" panose="05000000000000000000" pitchFamily="2" charset="2"/>
              <a:buChar char="v"/>
            </a:pPr>
            <a:r>
              <a:rPr lang="en-US" sz="2400" dirty="0"/>
              <a:t>Certainly! Here's a comprehensive breakdown of each step involved in building an earthquake prediction model using machine learning:</a:t>
            </a:r>
          </a:p>
          <a:p>
            <a:pPr marL="107950" indent="0" algn="just">
              <a:buNone/>
            </a:pPr>
            <a:endParaRPr lang="en-US" sz="100" dirty="0"/>
          </a:p>
          <a:p>
            <a:pPr marL="107950" indent="0" algn="just">
              <a:buNone/>
            </a:pPr>
            <a:r>
              <a:rPr lang="en-US" sz="2800" dirty="0">
                <a:latin typeface="+mj-lt"/>
              </a:rPr>
              <a:t>Data Cleaning:</a:t>
            </a:r>
          </a:p>
          <a:p>
            <a:pPr algn="just">
              <a:buFont typeface="Wingdings" panose="05000000000000000000" pitchFamily="2" charset="2"/>
              <a:buChar char="v"/>
            </a:pPr>
            <a:r>
              <a:rPr lang="en-US" sz="2400" dirty="0"/>
              <a:t>Handling Missing Values: Identify and handle missing data appropriately, whether through imputation techniques or removing incomplete records. </a:t>
            </a:r>
          </a:p>
          <a:p>
            <a:pPr algn="just">
              <a:buFont typeface="Wingdings" panose="05000000000000000000" pitchFamily="2" charset="2"/>
              <a:buChar char="v"/>
            </a:pPr>
            <a:r>
              <a:rPr lang="en-US" sz="2400" dirty="0"/>
              <a:t>Outlier Detection: Identify and deal with outliers that might skew the distribution of the data.</a:t>
            </a:r>
          </a:p>
          <a:p>
            <a:pPr algn="just">
              <a:buFont typeface="Wingdings" panose="05000000000000000000" pitchFamily="2" charset="2"/>
              <a:buChar char="v"/>
            </a:pPr>
            <a:r>
              <a:rPr lang="en-US" sz="2400" dirty="0"/>
              <a:t>Data Normalization: Normalize the data to ensure that features are on a similar scale, which can aid in model convergence and performance.</a:t>
            </a:r>
          </a:p>
        </p:txBody>
      </p:sp>
    </p:spTree>
    <p:extLst>
      <p:ext uri="{BB962C8B-B14F-4D97-AF65-F5344CB8AC3E}">
        <p14:creationId xmlns:p14="http://schemas.microsoft.com/office/powerpoint/2010/main" val="393958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451EA1-9648-68D8-EB3E-7AEC3BA6CD5E}"/>
              </a:ext>
            </a:extLst>
          </p:cNvPr>
          <p:cNvSpPr>
            <a:spLocks noGrp="1"/>
          </p:cNvSpPr>
          <p:nvPr>
            <p:ph idx="1"/>
          </p:nvPr>
        </p:nvSpPr>
        <p:spPr>
          <a:xfrm>
            <a:off x="239712" y="1341437"/>
            <a:ext cx="9337677" cy="6218238"/>
          </a:xfrm>
        </p:spPr>
        <p:txBody>
          <a:bodyPr/>
          <a:lstStyle/>
          <a:p>
            <a:pPr marL="107950" indent="0" algn="just">
              <a:lnSpc>
                <a:spcPct val="150000"/>
              </a:lnSpc>
              <a:buNone/>
            </a:pPr>
            <a:r>
              <a:rPr lang="en-US" sz="2800" dirty="0"/>
              <a:t>Data Visualization:</a:t>
            </a:r>
          </a:p>
          <a:p>
            <a:pPr algn="just">
              <a:lnSpc>
                <a:spcPct val="150000"/>
              </a:lnSpc>
              <a:buFont typeface="Wingdings" panose="05000000000000000000" pitchFamily="2" charset="2"/>
              <a:buChar char="v"/>
            </a:pPr>
            <a:r>
              <a:rPr lang="en-US" sz="2400" dirty="0"/>
              <a:t>Seismic Data Exploration: Visualize seismic data using techniques such as time series plots, spectrograms, and heatmaps to understand patterns and trends.</a:t>
            </a:r>
          </a:p>
          <a:p>
            <a:pPr algn="just">
              <a:lnSpc>
                <a:spcPct val="150000"/>
              </a:lnSpc>
              <a:buFont typeface="Wingdings" panose="05000000000000000000" pitchFamily="2" charset="2"/>
              <a:buChar char="v"/>
            </a:pPr>
            <a:r>
              <a:rPr lang="en-US" sz="2400" dirty="0"/>
              <a:t>Geospatial Visualization: Plot seismic events on a map to visualize their geographical distribution and identify regions of high seismic activity.</a:t>
            </a:r>
          </a:p>
          <a:p>
            <a:pPr algn="just">
              <a:lnSpc>
                <a:spcPct val="150000"/>
              </a:lnSpc>
              <a:buFont typeface="Wingdings" panose="05000000000000000000" pitchFamily="2" charset="2"/>
              <a:buChar char="v"/>
            </a:pPr>
            <a:r>
              <a:rPr lang="en-US" sz="2400" dirty="0"/>
              <a:t>Feature Correlation Analysis: Visualize correlations between different features to understand their relationships and identify potentially important predictors.</a:t>
            </a:r>
          </a:p>
        </p:txBody>
      </p:sp>
    </p:spTree>
    <p:extLst>
      <p:ext uri="{BB962C8B-B14F-4D97-AF65-F5344CB8AC3E}">
        <p14:creationId xmlns:p14="http://schemas.microsoft.com/office/powerpoint/2010/main" val="2567904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A31192-D15E-C0FC-922B-30A0E05D0A64}"/>
              </a:ext>
            </a:extLst>
          </p:cNvPr>
          <p:cNvSpPr>
            <a:spLocks noGrp="1"/>
          </p:cNvSpPr>
          <p:nvPr>
            <p:ph idx="1"/>
          </p:nvPr>
        </p:nvSpPr>
        <p:spPr>
          <a:xfrm>
            <a:off x="163512" y="1265237"/>
            <a:ext cx="9525000" cy="5487988"/>
          </a:xfrm>
        </p:spPr>
        <p:txBody>
          <a:bodyPr/>
          <a:lstStyle/>
          <a:p>
            <a:pPr marL="107950" indent="0" algn="just">
              <a:lnSpc>
                <a:spcPct val="150000"/>
              </a:lnSpc>
              <a:buNone/>
            </a:pPr>
            <a:r>
              <a:rPr lang="en-US" sz="2800" dirty="0"/>
              <a:t>Feature Selection:</a:t>
            </a:r>
          </a:p>
          <a:p>
            <a:pPr algn="just">
              <a:lnSpc>
                <a:spcPct val="150000"/>
              </a:lnSpc>
              <a:buFont typeface="Wingdings" panose="05000000000000000000" pitchFamily="2" charset="2"/>
              <a:buChar char="v"/>
            </a:pPr>
            <a:r>
              <a:rPr lang="en-US" sz="2400" dirty="0"/>
              <a:t>Correlation Analysis: Identify features that are highly correlated with earthquake occurrence and remove redundant features to improve model efficiency.</a:t>
            </a:r>
          </a:p>
          <a:p>
            <a:pPr algn="just">
              <a:lnSpc>
                <a:spcPct val="150000"/>
              </a:lnSpc>
              <a:buFont typeface="Wingdings" panose="05000000000000000000" pitchFamily="2" charset="2"/>
              <a:buChar char="v"/>
            </a:pPr>
            <a:r>
              <a:rPr lang="en-US" sz="2400" dirty="0"/>
              <a:t>Feature Importance: Use techniques like Random Forest feature importance or Recursive Feature Elimination to select the most relevant features for predicting earthquakes.</a:t>
            </a:r>
          </a:p>
          <a:p>
            <a:pPr algn="just">
              <a:lnSpc>
                <a:spcPct val="150000"/>
              </a:lnSpc>
              <a:buFont typeface="Wingdings" panose="05000000000000000000" pitchFamily="2" charset="2"/>
              <a:buChar char="v"/>
            </a:pPr>
            <a:r>
              <a:rPr lang="en-US" sz="2400" dirty="0"/>
              <a:t>Domain Knowledge Integration: Incorporate domain knowledge from seismology to guide feature selection and prioritize relevant seismic attributes.</a:t>
            </a:r>
          </a:p>
        </p:txBody>
      </p:sp>
    </p:spTree>
    <p:extLst>
      <p:ext uri="{BB962C8B-B14F-4D97-AF65-F5344CB8AC3E}">
        <p14:creationId xmlns:p14="http://schemas.microsoft.com/office/powerpoint/2010/main" val="4199036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91522-AA1D-2635-D35E-7BFD4432F719}"/>
              </a:ext>
            </a:extLst>
          </p:cNvPr>
          <p:cNvSpPr>
            <a:spLocks noGrp="1"/>
          </p:cNvSpPr>
          <p:nvPr>
            <p:ph idx="1"/>
          </p:nvPr>
        </p:nvSpPr>
        <p:spPr>
          <a:xfrm>
            <a:off x="252000" y="1335600"/>
            <a:ext cx="9436512" cy="6033275"/>
          </a:xfrm>
        </p:spPr>
        <p:txBody>
          <a:bodyPr/>
          <a:lstStyle/>
          <a:p>
            <a:pPr marL="107950" indent="0" algn="just">
              <a:lnSpc>
                <a:spcPct val="150000"/>
              </a:lnSpc>
              <a:buNone/>
            </a:pPr>
            <a:r>
              <a:rPr lang="en-IN" sz="2800" dirty="0">
                <a:latin typeface="+mj-lt"/>
              </a:rPr>
              <a:t>Model Training:</a:t>
            </a:r>
            <a:endParaRPr lang="en-IN" sz="2400" dirty="0">
              <a:latin typeface="+mj-lt"/>
            </a:endParaRPr>
          </a:p>
          <a:p>
            <a:pPr algn="just">
              <a:lnSpc>
                <a:spcPct val="150000"/>
              </a:lnSpc>
              <a:buFont typeface="Wingdings" panose="05000000000000000000" pitchFamily="2" charset="2"/>
              <a:buChar char="v"/>
            </a:pPr>
            <a:r>
              <a:rPr lang="en-IN" sz="2400" dirty="0"/>
              <a:t>Model Selection: Experiment with various machine learning algorithms suitable for classification tasks, such as decision trees, random forests, support vector machines (SVM), or deep learning models.</a:t>
            </a:r>
          </a:p>
          <a:p>
            <a:pPr algn="just">
              <a:lnSpc>
                <a:spcPct val="150000"/>
              </a:lnSpc>
              <a:buFont typeface="Wingdings" panose="05000000000000000000" pitchFamily="2" charset="2"/>
              <a:buChar char="v"/>
            </a:pPr>
            <a:r>
              <a:rPr lang="en-IN" sz="2400" dirty="0"/>
              <a:t>Hyperparameter Tuning: Optimize model hyperparameters using techniques like grid search or random search to improve model performance.</a:t>
            </a:r>
          </a:p>
          <a:p>
            <a:pPr algn="just">
              <a:lnSpc>
                <a:spcPct val="150000"/>
              </a:lnSpc>
              <a:buFont typeface="Wingdings" panose="05000000000000000000" pitchFamily="2" charset="2"/>
              <a:buChar char="v"/>
            </a:pPr>
            <a:r>
              <a:rPr lang="en-IN" sz="2400" dirty="0"/>
              <a:t>Cross-Validation: Validate the model using techniques like k-fold cross-validation to ensure its generalization to unseen data.</a:t>
            </a:r>
          </a:p>
          <a:p>
            <a:pPr algn="just">
              <a:lnSpc>
                <a:spcPct val="150000"/>
              </a:lnSpc>
              <a:buFont typeface="Wingdings" panose="05000000000000000000" pitchFamily="2" charset="2"/>
              <a:buChar char="v"/>
            </a:pPr>
            <a:endParaRPr lang="en-IN" sz="2400" dirty="0"/>
          </a:p>
        </p:txBody>
      </p:sp>
    </p:spTree>
    <p:extLst>
      <p:ext uri="{BB962C8B-B14F-4D97-AF65-F5344CB8AC3E}">
        <p14:creationId xmlns:p14="http://schemas.microsoft.com/office/powerpoint/2010/main" val="2550316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BBD65-030B-F822-A846-E25964ED925A}"/>
              </a:ext>
            </a:extLst>
          </p:cNvPr>
          <p:cNvSpPr>
            <a:spLocks noGrp="1"/>
          </p:cNvSpPr>
          <p:nvPr>
            <p:ph idx="1"/>
          </p:nvPr>
        </p:nvSpPr>
        <p:spPr>
          <a:xfrm>
            <a:off x="163511" y="1265237"/>
            <a:ext cx="9413877" cy="5487988"/>
          </a:xfrm>
        </p:spPr>
        <p:txBody>
          <a:bodyPr/>
          <a:lstStyle/>
          <a:p>
            <a:pPr marL="107950" indent="0" algn="just">
              <a:lnSpc>
                <a:spcPct val="150000"/>
              </a:lnSpc>
              <a:buNone/>
            </a:pPr>
            <a:r>
              <a:rPr lang="en-US" sz="2800" dirty="0">
                <a:latin typeface="+mj-lt"/>
              </a:rPr>
              <a:t>Model Analysis and Accuracy:</a:t>
            </a:r>
          </a:p>
          <a:p>
            <a:pPr algn="just">
              <a:lnSpc>
                <a:spcPct val="150000"/>
              </a:lnSpc>
              <a:buFont typeface="Wingdings" panose="05000000000000000000" pitchFamily="2" charset="2"/>
              <a:buChar char="v"/>
            </a:pPr>
            <a:r>
              <a:rPr lang="en-US" sz="2400" dirty="0"/>
              <a:t>Evaluation Metrics: Measure model performance using appropriate evaluation metrics such as accuracy, precision, recall, F1-score, and area under the ROC curve (AUC-ROC).</a:t>
            </a:r>
          </a:p>
          <a:p>
            <a:pPr algn="just">
              <a:lnSpc>
                <a:spcPct val="150000"/>
              </a:lnSpc>
              <a:buFont typeface="Wingdings" panose="05000000000000000000" pitchFamily="2" charset="2"/>
              <a:buChar char="v"/>
            </a:pPr>
            <a:r>
              <a:rPr lang="en-US" sz="2400" dirty="0"/>
              <a:t>Interpretability: Interpret the model's predictions and assess its reliability and robustness in real-world earthquake prediction scenarios.</a:t>
            </a:r>
          </a:p>
          <a:p>
            <a:pPr algn="just">
              <a:lnSpc>
                <a:spcPct val="150000"/>
              </a:lnSpc>
              <a:buFont typeface="Wingdings" panose="05000000000000000000" pitchFamily="2" charset="2"/>
              <a:buChar char="v"/>
            </a:pPr>
            <a:r>
              <a:rPr lang="en-US" sz="2400" dirty="0"/>
              <a:t>Model Validation: Validate the model's accuracy using independent datasets or real-time monitoring to ensure its effectiveness in practical applications.</a:t>
            </a:r>
            <a:endParaRPr lang="en-IN" sz="2400" dirty="0"/>
          </a:p>
        </p:txBody>
      </p:sp>
    </p:spTree>
    <p:extLst>
      <p:ext uri="{BB962C8B-B14F-4D97-AF65-F5344CB8AC3E}">
        <p14:creationId xmlns:p14="http://schemas.microsoft.com/office/powerpoint/2010/main" val="2443227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5600" cy="1143000"/>
          </a:xfrm>
        </p:spPr>
        <p:txBody>
          <a:bodyPr/>
          <a:lstStyle/>
          <a:p>
            <a:pPr algn="l"/>
            <a:r>
              <a:rPr lang="en-US" b="1" dirty="0">
                <a:solidFill>
                  <a:srgbClr val="FF0000"/>
                </a:solidFill>
              </a:rPr>
              <a:t>Screenshots:</a:t>
            </a:r>
            <a:endParaRPr lang="en-US" dirty="0"/>
          </a:p>
        </p:txBody>
      </p:sp>
      <p:sp>
        <p:nvSpPr>
          <p:cNvPr id="6" name="TextBox 5"/>
          <p:cNvSpPr txBox="1"/>
          <p:nvPr/>
        </p:nvSpPr>
        <p:spPr>
          <a:xfrm>
            <a:off x="1992312" y="1493837"/>
            <a:ext cx="6781800" cy="584775"/>
          </a:xfrm>
          <a:prstGeom prst="rect">
            <a:avLst/>
          </a:prstGeom>
          <a:noFill/>
        </p:spPr>
        <p:txBody>
          <a:bodyPr wrap="square" rtlCol="0">
            <a:spAutoFit/>
          </a:bodyPr>
          <a:lstStyle/>
          <a:p>
            <a:r>
              <a:rPr lang="en-US" sz="3200" b="1" dirty="0">
                <a:solidFill>
                  <a:srgbClr val="7030A0"/>
                </a:solidFill>
              </a:rPr>
              <a:t>	</a:t>
            </a:r>
          </a:p>
        </p:txBody>
      </p:sp>
      <p:pic>
        <p:nvPicPr>
          <p:cNvPr id="3" name="Picture 2">
            <a:extLst>
              <a:ext uri="{FF2B5EF4-FFF2-40B4-BE49-F238E27FC236}">
                <a16:creationId xmlns:a16="http://schemas.microsoft.com/office/drawing/2014/main" id="{2FF1EDEE-3F50-7FBA-6862-DE4E8C0CAC2C}"/>
              </a:ext>
            </a:extLst>
          </p:cNvPr>
          <p:cNvPicPr>
            <a:picLocks noChangeAspect="1"/>
          </p:cNvPicPr>
          <p:nvPr/>
        </p:nvPicPr>
        <p:blipFill>
          <a:blip r:embed="rId2"/>
          <a:stretch>
            <a:fillRect/>
          </a:stretch>
        </p:blipFill>
        <p:spPr>
          <a:xfrm>
            <a:off x="1230312" y="2179637"/>
            <a:ext cx="7467600" cy="48006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27711" cy="1114954"/>
          </a:xfrm>
        </p:spPr>
        <p:txBody>
          <a:bodyPr/>
          <a:lstStyle/>
          <a:p>
            <a:pPr algn="l"/>
            <a:r>
              <a:rPr lang="en-US" sz="4000" b="1" dirty="0">
                <a:solidFill>
                  <a:srgbClr val="FF0000"/>
                </a:solidFill>
              </a:rPr>
              <a:t>Tools/Technologies Required</a:t>
            </a:r>
          </a:p>
        </p:txBody>
      </p:sp>
      <p:sp>
        <p:nvSpPr>
          <p:cNvPr id="8" name="Title 3"/>
          <p:cNvSpPr txBox="1">
            <a:spLocks/>
          </p:cNvSpPr>
          <p:nvPr/>
        </p:nvSpPr>
        <p:spPr>
          <a:xfrm>
            <a:off x="239712" y="153958"/>
            <a:ext cx="6706800" cy="1144800"/>
          </a:xfrm>
          <a:prstGeom prst="rect">
            <a:avLst/>
          </a:prstGeom>
        </p:spPr>
        <p:txBody>
          <a:bodyPr>
            <a:normAutofit/>
          </a:bodyPr>
          <a:lstStyle/>
          <a:p>
            <a:pPr marL="0" marR="0" lvl="0" indent="0" algn="ctr" defTabSz="457200" rtl="0" eaLnBrk="0" fontAlgn="base" latinLnBrk="0" hangingPunct="0">
              <a:lnSpc>
                <a:spcPct val="100000"/>
              </a:lnSpc>
              <a:spcBef>
                <a:spcPct val="0"/>
              </a:spcBef>
              <a:spcAft>
                <a:spcPct val="0"/>
              </a:spcAft>
              <a:buClr>
                <a:srgbClr val="000000"/>
              </a:buClr>
              <a:buSzPct val="45000"/>
              <a:buFont typeface="StarBats" charset="0"/>
              <a:buNone/>
              <a:tabLst/>
              <a:defRPr/>
            </a:pPr>
            <a:r>
              <a:rPr kumimoji="0" lang="en-US" sz="4400" b="0" i="0" u="none" strike="noStrike" kern="0" cap="none" spc="0" normalizeH="0" baseline="0" noProof="0" dirty="0">
                <a:ln>
                  <a:noFill/>
                </a:ln>
                <a:solidFill>
                  <a:srgbClr val="000000"/>
                </a:solidFill>
                <a:effectLst/>
                <a:uLnTx/>
                <a:uFillTx/>
                <a:latin typeface="+mj-lt"/>
                <a:ea typeface="+mj-ea"/>
                <a:cs typeface="+mj-cs"/>
              </a:rPr>
              <a:t> </a:t>
            </a:r>
          </a:p>
        </p:txBody>
      </p:sp>
      <p:sp>
        <p:nvSpPr>
          <p:cNvPr id="5" name="Content Placeholder 4"/>
          <p:cNvSpPr>
            <a:spLocks noGrp="1"/>
          </p:cNvSpPr>
          <p:nvPr>
            <p:ph idx="1"/>
          </p:nvPr>
        </p:nvSpPr>
        <p:spPr>
          <a:xfrm>
            <a:off x="53974" y="1417637"/>
            <a:ext cx="9634538" cy="5988078"/>
          </a:xfrm>
        </p:spPr>
        <p:txBody>
          <a:bodyPr/>
          <a:lstStyle/>
          <a:p>
            <a:pPr marL="107950" indent="0" algn="just">
              <a:lnSpc>
                <a:spcPct val="150000"/>
              </a:lnSpc>
              <a:buNone/>
            </a:pPr>
            <a:r>
              <a:rPr lang="en-US" sz="2800" dirty="0">
                <a:latin typeface="+mj-lt"/>
              </a:rPr>
              <a:t>System requirements:</a:t>
            </a:r>
          </a:p>
          <a:p>
            <a:pPr algn="just">
              <a:lnSpc>
                <a:spcPct val="150000"/>
              </a:lnSpc>
              <a:buFont typeface="Wingdings" panose="05000000000000000000" pitchFamily="2" charset="2"/>
              <a:buChar char="v"/>
            </a:pPr>
            <a:r>
              <a:rPr lang="en-US" sz="2400" dirty="0"/>
              <a:t>*Hardware:*    - High-performance computing infrastructure (CPU, RAM).   </a:t>
            </a:r>
          </a:p>
          <a:p>
            <a:pPr algn="just">
              <a:lnSpc>
                <a:spcPct val="150000"/>
              </a:lnSpc>
              <a:buFont typeface="Wingdings" panose="05000000000000000000" pitchFamily="2" charset="2"/>
              <a:buChar char="v"/>
            </a:pPr>
            <a:r>
              <a:rPr lang="en-US" sz="2400" dirty="0"/>
              <a:t>*Software:*   - Programming languages: Python. - libraries : </a:t>
            </a:r>
            <a:r>
              <a:rPr lang="en-US" sz="2400" dirty="0" err="1"/>
              <a:t>Numpy</a:t>
            </a:r>
            <a:r>
              <a:rPr lang="en-US" sz="2400" dirty="0"/>
              <a:t>, Pandas, matplotlib, Seaborn, and Machine learning libraries: scikit-learn, TensorFlow, </a:t>
            </a:r>
            <a:r>
              <a:rPr lang="en-US" sz="2400" dirty="0" err="1"/>
              <a:t>PyTorch</a:t>
            </a:r>
            <a:r>
              <a:rPr lang="en-US" sz="2400" dirty="0"/>
              <a:t>, Database management systems, Source code editor: Vs code</a:t>
            </a:r>
          </a:p>
          <a:p>
            <a:pPr algn="just">
              <a:lnSpc>
                <a:spcPct val="150000"/>
              </a:lnSpc>
              <a:buFont typeface="Wingdings" panose="05000000000000000000" pitchFamily="2" charset="2"/>
              <a:buChar char="v"/>
            </a:pPr>
            <a:r>
              <a:rPr lang="en-US" sz="2400" dirty="0"/>
              <a:t>Model *Expertise:*   - Machine learning, statistical analysis, and geoscience.   - Model development and validation techniques.</a:t>
            </a:r>
          </a:p>
          <a:p>
            <a:pPr algn="just">
              <a:buFont typeface="Wingdings" panose="05000000000000000000" pitchFamily="2" charset="2"/>
              <a:buChar char="v"/>
            </a:pP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59C3A-277E-7FD3-0A77-3355B9E390EF}"/>
              </a:ext>
            </a:extLst>
          </p:cNvPr>
          <p:cNvSpPr>
            <a:spLocks noGrp="1"/>
          </p:cNvSpPr>
          <p:nvPr>
            <p:ph type="title"/>
          </p:nvPr>
        </p:nvSpPr>
        <p:spPr>
          <a:xfrm>
            <a:off x="252000" y="190800"/>
            <a:ext cx="6691734" cy="1143000"/>
          </a:xfrm>
        </p:spPr>
        <p:txBody>
          <a:bodyPr/>
          <a:lstStyle/>
          <a:p>
            <a:pPr algn="l"/>
            <a:r>
              <a:rPr lang="en-US" sz="4000" b="1" dirty="0">
                <a:solidFill>
                  <a:srgbClr val="FF0000"/>
                </a:solidFill>
              </a:rPr>
              <a:t>Tools/Technologies Required</a:t>
            </a:r>
            <a:endParaRPr lang="en-IN" sz="4000" dirty="0"/>
          </a:p>
        </p:txBody>
      </p:sp>
      <p:sp>
        <p:nvSpPr>
          <p:cNvPr id="3" name="Content Placeholder 2">
            <a:extLst>
              <a:ext uri="{FF2B5EF4-FFF2-40B4-BE49-F238E27FC236}">
                <a16:creationId xmlns:a16="http://schemas.microsoft.com/office/drawing/2014/main" id="{7AA0B626-0912-67E9-9C93-A53CDB0EA7C8}"/>
              </a:ext>
            </a:extLst>
          </p:cNvPr>
          <p:cNvSpPr>
            <a:spLocks noGrp="1"/>
          </p:cNvSpPr>
          <p:nvPr>
            <p:ph idx="1"/>
          </p:nvPr>
        </p:nvSpPr>
        <p:spPr>
          <a:xfrm>
            <a:off x="239712" y="1874837"/>
            <a:ext cx="9412287" cy="5795962"/>
          </a:xfrm>
        </p:spPr>
        <p:txBody>
          <a:bodyPr/>
          <a:lstStyle/>
          <a:p>
            <a:pPr algn="just">
              <a:buFont typeface="Wingdings" panose="05000000000000000000" pitchFamily="2" charset="2"/>
              <a:buChar char="v"/>
            </a:pPr>
            <a:r>
              <a:rPr lang="en-US" sz="2400" dirty="0"/>
              <a:t>* Data Sources:*   - National Center for Seismology Ministry of Earth Sciences Government of India   - Geological and environmental datasets.</a:t>
            </a:r>
          </a:p>
          <a:p>
            <a:pPr algn="just">
              <a:buFont typeface="Wingdings" panose="05000000000000000000" pitchFamily="2" charset="2"/>
              <a:buChar char="v"/>
            </a:pPr>
            <a:r>
              <a:rPr lang="en-US" sz="2400" dirty="0"/>
              <a:t>*Collaboration Tools:*   - Platforms for team collaboration and communication. By meeting these requirements, you can effectively develop and deploy an earthquake prediction</a:t>
            </a:r>
          </a:p>
          <a:p>
            <a:pPr algn="just">
              <a:buFont typeface="Wingdings" panose="05000000000000000000" pitchFamily="2" charset="2"/>
              <a:buChar char="v"/>
            </a:pPr>
            <a:r>
              <a:rPr lang="en-US" sz="2400" dirty="0"/>
              <a:t>Project management and coordination tools: Notion, Jira, Slack, </a:t>
            </a:r>
            <a:r>
              <a:rPr lang="en-US" sz="2400" dirty="0" err="1"/>
              <a:t>Github</a:t>
            </a:r>
            <a:r>
              <a:rPr lang="en-US" sz="2400" dirty="0"/>
              <a:t>.               </a:t>
            </a:r>
          </a:p>
          <a:p>
            <a:pPr algn="just">
              <a:buFont typeface="Wingdings" panose="05000000000000000000" pitchFamily="2" charset="2"/>
              <a:buChar char="v"/>
            </a:pPr>
            <a:endParaRPr lang="en-IN" sz="2400" dirty="0"/>
          </a:p>
        </p:txBody>
      </p:sp>
    </p:spTree>
    <p:extLst>
      <p:ext uri="{BB962C8B-B14F-4D97-AF65-F5344CB8AC3E}">
        <p14:creationId xmlns:p14="http://schemas.microsoft.com/office/powerpoint/2010/main" val="110964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5600" cy="1143001"/>
          </a:xfrm>
        </p:spPr>
        <p:txBody>
          <a:bodyPr/>
          <a:lstStyle/>
          <a:p>
            <a:pPr algn="l"/>
            <a:r>
              <a:rPr lang="en-US" sz="4000" b="1" dirty="0">
                <a:solidFill>
                  <a:srgbClr val="FF0000"/>
                </a:solidFill>
              </a:rPr>
              <a:t>Conclusion</a:t>
            </a:r>
          </a:p>
        </p:txBody>
      </p:sp>
      <p:sp>
        <p:nvSpPr>
          <p:cNvPr id="3" name="Content Placeholder 2"/>
          <p:cNvSpPr>
            <a:spLocks noGrp="1"/>
          </p:cNvSpPr>
          <p:nvPr>
            <p:ph idx="1"/>
          </p:nvPr>
        </p:nvSpPr>
        <p:spPr>
          <a:xfrm>
            <a:off x="252001" y="1417637"/>
            <a:ext cx="9284111" cy="6096000"/>
          </a:xfrm>
        </p:spPr>
        <p:txBody>
          <a:bodyPr/>
          <a:lstStyle/>
          <a:p>
            <a:pPr algn="just">
              <a:lnSpc>
                <a:spcPct val="150000"/>
              </a:lnSpc>
              <a:buFont typeface="Wingdings" pitchFamily="2" charset="2"/>
              <a:buChar char="v"/>
            </a:pPr>
            <a:r>
              <a:rPr lang="en-US" sz="2400" dirty="0"/>
              <a:t>In conclusion, the development of an earthquake prediction model using machine learning represents a promising approach to mitigating seismic risks. While challenges such as data quality and model complexity persist, the potential benefits of early detection and warning systems are substantial. By leveraging advanced techniques in data cleaning, feature selection, and model training, we aim to enhance our understanding of seismic patterns and improve prediction accuracy. Thus enhancing ability to forecast earthquakes, mitigate risks, and ultimately save lives in earthquake-prone regions around the world.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190800"/>
            <a:ext cx="6705600" cy="1143001"/>
          </a:xfrm>
        </p:spPr>
        <p:txBody>
          <a:bodyPr/>
          <a:lstStyle/>
          <a:p>
            <a:pPr algn="l"/>
            <a:r>
              <a:rPr lang="en-US" sz="4000" b="1" dirty="0">
                <a:solidFill>
                  <a:srgbClr val="FF0000"/>
                </a:solidFill>
              </a:rPr>
              <a:t>References</a:t>
            </a:r>
            <a:br>
              <a:rPr lang="en-US" sz="4000" b="1" dirty="0">
                <a:solidFill>
                  <a:srgbClr val="FF0000"/>
                </a:solidFill>
              </a:rPr>
            </a:br>
            <a:endParaRPr lang="en-US" sz="4000" b="1" dirty="0">
              <a:solidFill>
                <a:srgbClr val="FF0000"/>
              </a:solidFill>
            </a:endParaRPr>
          </a:p>
        </p:txBody>
      </p:sp>
      <p:sp>
        <p:nvSpPr>
          <p:cNvPr id="3" name="Content Placeholder 2"/>
          <p:cNvSpPr>
            <a:spLocks noGrp="1"/>
          </p:cNvSpPr>
          <p:nvPr>
            <p:ph idx="1"/>
          </p:nvPr>
        </p:nvSpPr>
        <p:spPr>
          <a:xfrm>
            <a:off x="251999" y="1333801"/>
            <a:ext cx="9576625" cy="6138560"/>
          </a:xfrm>
          <a:ln>
            <a:solidFill>
              <a:schemeClr val="bg1"/>
            </a:solidFill>
          </a:ln>
        </p:spPr>
        <p:txBody>
          <a:bodyPr/>
          <a:lstStyle/>
          <a:p>
            <a:pPr marL="0" indent="0" algn="just">
              <a:spcBef>
                <a:spcPts val="5"/>
              </a:spcBef>
              <a:spcAft>
                <a:spcPts val="0"/>
              </a:spcAft>
              <a:buNone/>
              <a:tabLst>
                <a:tab pos="335280" algn="l"/>
              </a:tabLst>
            </a:pPr>
            <a:r>
              <a:rPr lang="en-US" sz="2800" dirty="0">
                <a:solidFill>
                  <a:schemeClr val="tx1">
                    <a:lumMod val="95000"/>
                    <a:lumOff val="5000"/>
                  </a:schemeClr>
                </a:solidFill>
                <a:effectLst/>
                <a:latin typeface="+mj-lt"/>
                <a:ea typeface="Trebuchet MS" panose="020B0603020202020204" pitchFamily="34" charset="0"/>
                <a:cs typeface="Trebuchet MS" panose="020B0603020202020204" pitchFamily="34" charset="0"/>
              </a:rPr>
              <a:t>Research Papers:</a:t>
            </a:r>
          </a:p>
          <a:p>
            <a:pPr marL="342900" indent="-342900" algn="just">
              <a:spcBef>
                <a:spcPts val="5"/>
              </a:spcBef>
              <a:spcAft>
                <a:spcPts val="0"/>
              </a:spcAft>
              <a:buFont typeface="Wingdings" panose="05000000000000000000" pitchFamily="2" charset="2"/>
              <a:buChar char="v"/>
              <a:tabLst>
                <a:tab pos="335280" algn="l"/>
              </a:tabLst>
            </a:pPr>
            <a:r>
              <a:rPr lang="en-US" sz="2400" dirty="0">
                <a:solidFill>
                  <a:schemeClr val="tx1">
                    <a:lumMod val="95000"/>
                    <a:lumOff val="5000"/>
                  </a:schemeClr>
                </a:solidFill>
                <a:effectLst/>
                <a:ea typeface="Trebuchet MS" panose="020B0603020202020204" pitchFamily="34" charset="0"/>
                <a:cs typeface="Trebuchet MS" panose="020B0603020202020204" pitchFamily="34" charset="0"/>
              </a:rPr>
              <a:t>"Earthquake Prediction: A Machine Learning Approach" by H. Tamura et al. and "Machine Learning Techniques Applied to Earthquake Magnitude Prediction" by A. H. </a:t>
            </a:r>
            <a:r>
              <a:rPr lang="en-US" sz="2400" dirty="0" err="1">
                <a:solidFill>
                  <a:schemeClr val="tx1">
                    <a:lumMod val="95000"/>
                    <a:lumOff val="5000"/>
                  </a:schemeClr>
                </a:solidFill>
                <a:effectLst/>
                <a:ea typeface="Trebuchet MS" panose="020B0603020202020204" pitchFamily="34" charset="0"/>
                <a:cs typeface="Trebuchet MS" panose="020B0603020202020204" pitchFamily="34" charset="0"/>
              </a:rPr>
              <a:t>Madadzadeh</a:t>
            </a:r>
            <a:r>
              <a:rPr lang="en-US" sz="2400" dirty="0">
                <a:solidFill>
                  <a:schemeClr val="tx1">
                    <a:lumMod val="95000"/>
                    <a:lumOff val="5000"/>
                  </a:schemeClr>
                </a:solidFill>
                <a:effectLst/>
                <a:ea typeface="Trebuchet MS" panose="020B0603020202020204" pitchFamily="34" charset="0"/>
                <a:cs typeface="Trebuchet MS" panose="020B0603020202020204" pitchFamily="34" charset="0"/>
              </a:rPr>
              <a:t> et al.</a:t>
            </a:r>
          </a:p>
          <a:p>
            <a:pPr marL="0" indent="0" algn="just">
              <a:spcBef>
                <a:spcPts val="5"/>
              </a:spcBef>
              <a:spcAft>
                <a:spcPts val="0"/>
              </a:spcAft>
              <a:buNone/>
              <a:tabLst>
                <a:tab pos="335280" algn="l"/>
              </a:tabLst>
            </a:pPr>
            <a:endParaRPr lang="en-US" sz="1000" dirty="0">
              <a:solidFill>
                <a:schemeClr val="tx1">
                  <a:lumMod val="95000"/>
                  <a:lumOff val="5000"/>
                </a:schemeClr>
              </a:solidFill>
              <a:effectLst/>
              <a:ea typeface="Trebuchet MS" panose="020B0603020202020204" pitchFamily="34" charset="0"/>
              <a:cs typeface="Trebuchet MS" panose="020B0603020202020204" pitchFamily="34" charset="0"/>
            </a:endParaRPr>
          </a:p>
          <a:p>
            <a:pPr marL="0" indent="0" algn="just">
              <a:spcBef>
                <a:spcPts val="5"/>
              </a:spcBef>
              <a:spcAft>
                <a:spcPts val="0"/>
              </a:spcAft>
              <a:buNone/>
              <a:tabLst>
                <a:tab pos="335280" algn="l"/>
              </a:tabLst>
            </a:pPr>
            <a:r>
              <a:rPr lang="en-US" sz="2800" dirty="0">
                <a:solidFill>
                  <a:schemeClr val="tx1">
                    <a:lumMod val="95000"/>
                    <a:lumOff val="5000"/>
                  </a:schemeClr>
                </a:solidFill>
                <a:effectLst/>
                <a:latin typeface="+mj-lt"/>
                <a:ea typeface="Trebuchet MS" panose="020B0603020202020204" pitchFamily="34" charset="0"/>
                <a:cs typeface="Trebuchet MS" panose="020B0603020202020204" pitchFamily="34" charset="0"/>
              </a:rPr>
              <a:t>Books</a:t>
            </a:r>
            <a:r>
              <a:rPr lang="en-US" sz="2400" dirty="0">
                <a:solidFill>
                  <a:schemeClr val="tx1">
                    <a:lumMod val="95000"/>
                    <a:lumOff val="5000"/>
                  </a:schemeClr>
                </a:solidFill>
                <a:effectLst/>
                <a:latin typeface="+mj-lt"/>
                <a:ea typeface="Trebuchet MS" panose="020B0603020202020204" pitchFamily="34" charset="0"/>
                <a:cs typeface="Trebuchet MS" panose="020B0603020202020204" pitchFamily="34" charset="0"/>
              </a:rPr>
              <a:t>: </a:t>
            </a:r>
          </a:p>
          <a:p>
            <a:pPr marL="342900" indent="-342900" algn="just">
              <a:spcBef>
                <a:spcPts val="5"/>
              </a:spcBef>
              <a:spcAft>
                <a:spcPts val="0"/>
              </a:spcAft>
              <a:buFont typeface="Wingdings" panose="05000000000000000000" pitchFamily="2" charset="2"/>
              <a:buChar char="v"/>
              <a:tabLst>
                <a:tab pos="335280" algn="l"/>
              </a:tabLst>
            </a:pPr>
            <a:r>
              <a:rPr lang="en-US" sz="2400" dirty="0">
                <a:solidFill>
                  <a:schemeClr val="tx1">
                    <a:lumMod val="95000"/>
                    <a:lumOff val="5000"/>
                  </a:schemeClr>
                </a:solidFill>
                <a:effectLst/>
                <a:ea typeface="Trebuchet MS" panose="020B0603020202020204" pitchFamily="34" charset="0"/>
                <a:cs typeface="Trebuchet MS" panose="020B0603020202020204" pitchFamily="34" charset="0"/>
              </a:rPr>
              <a:t>"Machine Learning: A Probabilistic Perspective" by Kevin P. Murphy, and  "Introduction to Seismology" by Peter M. </a:t>
            </a:r>
            <a:r>
              <a:rPr lang="en-US" sz="2400" dirty="0" err="1">
                <a:solidFill>
                  <a:schemeClr val="tx1">
                    <a:lumMod val="95000"/>
                    <a:lumOff val="5000"/>
                  </a:schemeClr>
                </a:solidFill>
                <a:effectLst/>
                <a:ea typeface="Trebuchet MS" panose="020B0603020202020204" pitchFamily="34" charset="0"/>
                <a:cs typeface="Trebuchet MS" panose="020B0603020202020204" pitchFamily="34" charset="0"/>
              </a:rPr>
              <a:t>Sheare</a:t>
            </a:r>
            <a:endParaRPr lang="en-US" sz="2400" dirty="0">
              <a:solidFill>
                <a:schemeClr val="tx1">
                  <a:lumMod val="95000"/>
                  <a:lumOff val="5000"/>
                </a:schemeClr>
              </a:solidFill>
              <a:effectLst/>
              <a:ea typeface="Trebuchet MS" panose="020B0603020202020204" pitchFamily="34" charset="0"/>
              <a:cs typeface="Trebuchet MS" panose="020B0603020202020204" pitchFamily="34" charset="0"/>
            </a:endParaRPr>
          </a:p>
          <a:p>
            <a:pPr marL="0" indent="0" algn="just">
              <a:spcBef>
                <a:spcPts val="5"/>
              </a:spcBef>
              <a:spcAft>
                <a:spcPts val="0"/>
              </a:spcAft>
              <a:buNone/>
              <a:tabLst>
                <a:tab pos="335280" algn="l"/>
              </a:tabLst>
            </a:pPr>
            <a:endParaRPr lang="en-US" sz="1000" dirty="0">
              <a:solidFill>
                <a:schemeClr val="tx1">
                  <a:lumMod val="95000"/>
                  <a:lumOff val="5000"/>
                </a:schemeClr>
              </a:solidFill>
              <a:effectLst/>
              <a:ea typeface="Trebuchet MS" panose="020B0603020202020204" pitchFamily="34" charset="0"/>
              <a:cs typeface="Trebuchet MS" panose="020B0603020202020204" pitchFamily="34" charset="0"/>
            </a:endParaRPr>
          </a:p>
          <a:p>
            <a:pPr marL="0" indent="0" algn="just">
              <a:spcBef>
                <a:spcPts val="5"/>
              </a:spcBef>
              <a:spcAft>
                <a:spcPts val="0"/>
              </a:spcAft>
              <a:buNone/>
              <a:tabLst>
                <a:tab pos="335280" algn="l"/>
              </a:tabLst>
            </a:pPr>
            <a:r>
              <a:rPr lang="en-US" sz="2800" dirty="0">
                <a:solidFill>
                  <a:schemeClr val="tx1">
                    <a:lumMod val="95000"/>
                    <a:lumOff val="5000"/>
                  </a:schemeClr>
                </a:solidFill>
                <a:latin typeface="+mj-lt"/>
                <a:ea typeface="Trebuchet MS" panose="020B0603020202020204" pitchFamily="34" charset="0"/>
                <a:cs typeface="Trebuchet MS" panose="020B0603020202020204" pitchFamily="34" charset="0"/>
              </a:rPr>
              <a:t>Online Resources:</a:t>
            </a:r>
          </a:p>
          <a:p>
            <a:pPr marL="342900" indent="-342900" algn="just">
              <a:spcBef>
                <a:spcPts val="5"/>
              </a:spcBef>
              <a:spcAft>
                <a:spcPts val="0"/>
              </a:spcAft>
              <a:buFont typeface="Wingdings" panose="05000000000000000000" pitchFamily="2" charset="2"/>
              <a:buChar char="v"/>
              <a:tabLst>
                <a:tab pos="335280" algn="l"/>
              </a:tabLst>
            </a:pPr>
            <a:endParaRPr lang="en-US" sz="1000" dirty="0">
              <a:solidFill>
                <a:schemeClr val="tx1">
                  <a:lumMod val="95000"/>
                  <a:lumOff val="5000"/>
                </a:schemeClr>
              </a:solidFill>
              <a:ea typeface="Trebuchet MS" panose="020B0603020202020204" pitchFamily="34" charset="0"/>
              <a:cs typeface="Trebuchet MS" panose="020B0603020202020204" pitchFamily="34" charset="0"/>
            </a:endParaRPr>
          </a:p>
          <a:p>
            <a:pPr marL="565150" indent="-457200">
              <a:spcAft>
                <a:spcPts val="600"/>
              </a:spcAft>
              <a:buFont typeface="Wingdings" pitchFamily="2" charset="2"/>
              <a:buChar char="v"/>
            </a:pPr>
            <a:r>
              <a:rPr lang="en-US" sz="2400" u="sng" dirty="0">
                <a:solidFill>
                  <a:schemeClr val="accent6"/>
                </a:solidFill>
              </a:rPr>
              <a:t>https://www.coursera.org/</a:t>
            </a:r>
          </a:p>
          <a:p>
            <a:pPr marL="565150" indent="-457200">
              <a:spcAft>
                <a:spcPts val="600"/>
              </a:spcAft>
              <a:buFont typeface="Wingdings" pitchFamily="2" charset="2"/>
              <a:buChar char="v"/>
            </a:pPr>
            <a:r>
              <a:rPr lang="en-US" sz="2400" u="sng" dirty="0">
                <a:solidFill>
                  <a:schemeClr val="accent6"/>
                </a:solidFill>
              </a:rPr>
              <a:t>https://www.geeksforgeeks.org/</a:t>
            </a:r>
          </a:p>
          <a:p>
            <a:pPr marL="565150" indent="-457200">
              <a:spcAft>
                <a:spcPts val="600"/>
              </a:spcAft>
              <a:buFont typeface="Wingdings" pitchFamily="2" charset="2"/>
              <a:buChar char="v"/>
            </a:pPr>
            <a:r>
              <a:rPr lang="en-US" sz="2400" u="sng" dirty="0">
                <a:solidFill>
                  <a:schemeClr val="accent6"/>
                </a:solidFill>
              </a:rPr>
              <a:t>https://www.quora.com/</a:t>
            </a:r>
          </a:p>
          <a:p>
            <a:pPr marL="565150" indent="-457200">
              <a:spcAft>
                <a:spcPts val="600"/>
              </a:spcAft>
              <a:buFont typeface="Wingdings" pitchFamily="2" charset="2"/>
              <a:buChar char="v"/>
            </a:pPr>
            <a:r>
              <a:rPr lang="en-US" sz="2400" u="sng" dirty="0">
                <a:solidFill>
                  <a:schemeClr val="accent6"/>
                </a:solidFill>
              </a:rPr>
              <a:t>www.stackoverflow.com/</a:t>
            </a:r>
          </a:p>
          <a:p>
            <a:pPr marL="565150" indent="-457200">
              <a:spcAft>
                <a:spcPts val="600"/>
              </a:spcAft>
              <a:buFont typeface="Wingdings" pitchFamily="2" charset="2"/>
              <a:buChar char="v"/>
            </a:pPr>
            <a:r>
              <a:rPr lang="en-US" sz="2400" u="sng" dirty="0">
                <a:solidFill>
                  <a:schemeClr val="accent6"/>
                </a:solidFill>
              </a:rPr>
              <a:t>https://www.sih.gov.in/</a:t>
            </a:r>
            <a:endParaRPr lang="en-IN" sz="2400" u="sng" dirty="0">
              <a:solidFill>
                <a:schemeClr val="accent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825" y="1763713"/>
            <a:ext cx="9072563" cy="5445124"/>
          </a:xfrm>
        </p:spPr>
        <p:txBody>
          <a:bodyPr/>
          <a:lstStyle/>
          <a:p>
            <a:pPr marL="514350" indent="-514350" algn="ctr">
              <a:buFont typeface="+mj-lt"/>
              <a:buAutoNum type="arabicPeriod"/>
            </a:pPr>
            <a:endParaRPr lang="en-US" sz="2200" dirty="0"/>
          </a:p>
          <a:p>
            <a:pPr marL="514350" indent="-514350" algn="ctr">
              <a:buFont typeface="+mj-lt"/>
              <a:buAutoNum type="arabicPeriod"/>
            </a:pPr>
            <a:endParaRPr lang="en-US" sz="2200" dirty="0"/>
          </a:p>
          <a:p>
            <a:pPr marL="514350" indent="-514350" algn="ctr">
              <a:buNone/>
            </a:pPr>
            <a:endParaRPr lang="en-US" sz="2200" dirty="0"/>
          </a:p>
          <a:p>
            <a:pPr marL="514350" indent="-514350" algn="ctr">
              <a:buNone/>
            </a:pPr>
            <a:endParaRPr lang="en-US" sz="800" dirty="0"/>
          </a:p>
          <a:p>
            <a:pPr marL="514350" indent="-514350" algn="ctr">
              <a:buNone/>
            </a:pPr>
            <a:r>
              <a:rPr lang="en-US" sz="8000" b="1" i="1" dirty="0">
                <a:solidFill>
                  <a:srgbClr val="FF0000"/>
                </a:solidFill>
              </a:rPr>
              <a:t>Thank You</a:t>
            </a:r>
          </a:p>
          <a:p>
            <a:pPr marL="514350" indent="-514350">
              <a:buFont typeface="+mj-lt"/>
              <a:buAutoNum type="arabicPeriod"/>
            </a:pPr>
            <a:endParaRPr lang="en-US" sz="2200" i="1" dirty="0"/>
          </a:p>
          <a:p>
            <a:pPr marL="514350" indent="-514350">
              <a:buFont typeface="+mj-lt"/>
              <a:buAutoNum type="arabicPeriod"/>
            </a:pPr>
            <a:endParaRPr lang="en-US" sz="2200" dirty="0"/>
          </a:p>
          <a:p>
            <a:pPr>
              <a:buFont typeface="Wingdings" pitchFamily="2" charset="2"/>
              <a:buChar char="q"/>
            </a:pPr>
            <a:endParaRPr lang="en-US" sz="2200" dirty="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1229</Words>
  <Application>Microsoft Office PowerPoint</Application>
  <PresentationFormat>Custom</PresentationFormat>
  <Paragraphs>99</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Cambria</vt:lpstr>
      <vt:lpstr>Helvetica</vt:lpstr>
      <vt:lpstr>StarBats</vt:lpstr>
      <vt:lpstr>Times</vt:lpstr>
      <vt:lpstr>Times New Roman</vt:lpstr>
      <vt:lpstr>Trebuchet MS</vt:lpstr>
      <vt:lpstr>Wingdings</vt:lpstr>
      <vt:lpstr>Default Design</vt:lpstr>
      <vt:lpstr> </vt:lpstr>
      <vt:lpstr>PowerPoint Presentation</vt:lpstr>
      <vt:lpstr>Problem Statement </vt:lpstr>
      <vt:lpstr>Objective </vt:lpstr>
      <vt:lpstr>Approach</vt:lpstr>
      <vt:lpstr>Project Description</vt:lpstr>
      <vt:lpstr>PowerPoint Presentation</vt:lpstr>
      <vt:lpstr>PowerPoint Presentation</vt:lpstr>
      <vt:lpstr>Implementation</vt:lpstr>
      <vt:lpstr>PowerPoint Presentation</vt:lpstr>
      <vt:lpstr>PowerPoint Presentation</vt:lpstr>
      <vt:lpstr>PowerPoint Presentation</vt:lpstr>
      <vt:lpstr>PowerPoint Presentation</vt:lpstr>
      <vt:lpstr>Screenshots:</vt:lpstr>
      <vt:lpstr>Tools/Technologies Required</vt:lpstr>
      <vt:lpstr>Tools/Technologies Required</vt:lpstr>
      <vt:lpstr>Conclusion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lakshya</dc:creator>
  <cp:lastModifiedBy>kanishk pareek</cp:lastModifiedBy>
  <cp:revision>85</cp:revision>
  <dcterms:created xsi:type="dcterms:W3CDTF">2002-10-10T16:43:00Z</dcterms:created>
  <dcterms:modified xsi:type="dcterms:W3CDTF">2026-05-13T06:30:41Z</dcterms:modified>
</cp:coreProperties>
</file>